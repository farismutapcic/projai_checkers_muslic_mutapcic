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64" r:id="rId2"/>
    <p:sldId id="256" r:id="rId3"/>
    <p:sldId id="258" r:id="rId4"/>
    <p:sldId id="263" r:id="rId5"/>
    <p:sldId id="257" r:id="rId6"/>
    <p:sldId id="260" r:id="rId7"/>
    <p:sldId id="261" r:id="rId8"/>
    <p:sldId id="265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EACF"/>
    <a:srgbClr val="E6EDD0"/>
    <a:srgbClr val="FBFCF7"/>
    <a:srgbClr val="766F54"/>
    <a:srgbClr val="3B37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71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234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429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90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265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855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7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191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773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61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100287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785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639195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8357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43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16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285"/>
            <a:ext cx="1952272" cy="6852968"/>
            <a:chOff x="6627813" y="195717"/>
            <a:chExt cx="1952625" cy="5678034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1628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0" y="228600"/>
            <a:ext cx="2138628" cy="6638625"/>
            <a:chOff x="2487613" y="285750"/>
            <a:chExt cx="2428875" cy="5654676"/>
          </a:xfrm>
        </p:grpSpPr>
        <p:sp>
          <p:nvSpPr>
            <p:cNvPr id="63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64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65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66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67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68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69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70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71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72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74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412" y="-786"/>
            <a:ext cx="1767505" cy="6854040"/>
            <a:chOff x="6627813" y="194833"/>
            <a:chExt cx="1952625" cy="5678918"/>
          </a:xfrm>
        </p:grpSpPr>
        <p:sp>
          <p:nvSpPr>
            <p:cNvPr id="77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78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79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0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1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2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3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4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5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6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7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8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</p:grpSp>
      <p:sp>
        <p:nvSpPr>
          <p:cNvPr id="90" name="Rectangle 89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r-HR"/>
          </a:p>
        </p:txBody>
      </p:sp>
      <p:sp>
        <p:nvSpPr>
          <p:cNvPr id="92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308489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r-HR"/>
          </a:p>
        </p:txBody>
      </p:sp>
      <p:sp useBgFill="1">
        <p:nvSpPr>
          <p:cNvPr id="94" name="Rectangle 93">
            <a:extLst>
              <a:ext uri="{FF2B5EF4-FFF2-40B4-BE49-F238E27FC236}">
                <a16:creationId xmlns:a16="http://schemas.microsoft.com/office/drawing/2014/main" id="{95FFA5E0-4C70-431D-A19D-18415F6C4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Slika 3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AC4C164C-C655-B3B5-33B5-7563BE29EC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3717899" y="-175990"/>
            <a:ext cx="5637576" cy="4228185"/>
          </a:xfrm>
          <a:prstGeom prst="rect">
            <a:avLst/>
          </a:prstGeom>
        </p:spPr>
      </p:pic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BE55C11-4C41-45E4-A00F-83DEE6BB5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3632297"/>
            <a:ext cx="5645712" cy="2170389"/>
          </a:xfrm>
          <a:custGeom>
            <a:avLst/>
            <a:gdLst>
              <a:gd name="connsiteX0" fmla="*/ 0 w 7527616"/>
              <a:gd name="connsiteY0" fmla="*/ 0 h 2170389"/>
              <a:gd name="connsiteX1" fmla="*/ 85411 w 7527616"/>
              <a:gd name="connsiteY1" fmla="*/ 0 h 2170389"/>
              <a:gd name="connsiteX2" fmla="*/ 926533 w 7527616"/>
              <a:gd name="connsiteY2" fmla="*/ 0 h 2170389"/>
              <a:gd name="connsiteX3" fmla="*/ 1114264 w 7527616"/>
              <a:gd name="connsiteY3" fmla="*/ 0 h 2170389"/>
              <a:gd name="connsiteX4" fmla="*/ 6544376 w 7527616"/>
              <a:gd name="connsiteY4" fmla="*/ 0 h 2170389"/>
              <a:gd name="connsiteX5" fmla="*/ 6610082 w 7527616"/>
              <a:gd name="connsiteY5" fmla="*/ 26276 h 2170389"/>
              <a:gd name="connsiteX6" fmla="*/ 6619468 w 7527616"/>
              <a:gd name="connsiteY6" fmla="*/ 36786 h 2170389"/>
              <a:gd name="connsiteX7" fmla="*/ 7506496 w 7527616"/>
              <a:gd name="connsiteY7" fmla="*/ 1024760 h 2170389"/>
              <a:gd name="connsiteX8" fmla="*/ 7506496 w 7527616"/>
              <a:gd name="connsiteY8" fmla="*/ 1140374 h 2170389"/>
              <a:gd name="connsiteX9" fmla="*/ 6619468 w 7527616"/>
              <a:gd name="connsiteY9" fmla="*/ 2133603 h 2170389"/>
              <a:gd name="connsiteX10" fmla="*/ 6610082 w 7527616"/>
              <a:gd name="connsiteY10" fmla="*/ 2144113 h 2170389"/>
              <a:gd name="connsiteX11" fmla="*/ 6544376 w 7527616"/>
              <a:gd name="connsiteY11" fmla="*/ 2170389 h 2170389"/>
              <a:gd name="connsiteX12" fmla="*/ 1114264 w 7527616"/>
              <a:gd name="connsiteY12" fmla="*/ 2170389 h 2170389"/>
              <a:gd name="connsiteX13" fmla="*/ 926533 w 7527616"/>
              <a:gd name="connsiteY13" fmla="*/ 2170389 h 2170389"/>
              <a:gd name="connsiteX14" fmla="*/ 146150 w 7527616"/>
              <a:gd name="connsiteY14" fmla="*/ 2170389 h 2170389"/>
              <a:gd name="connsiteX15" fmla="*/ 0 w 7527616"/>
              <a:gd name="connsiteY15" fmla="*/ 2170389 h 2170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27616" h="2170389">
                <a:moveTo>
                  <a:pt x="0" y="0"/>
                </a:moveTo>
                <a:lnTo>
                  <a:pt x="85411" y="0"/>
                </a:lnTo>
                <a:cubicBezTo>
                  <a:pt x="290008" y="0"/>
                  <a:pt x="562804" y="0"/>
                  <a:pt x="926533" y="0"/>
                </a:cubicBezTo>
                <a:cubicBezTo>
                  <a:pt x="926533" y="0"/>
                  <a:pt x="926533" y="0"/>
                  <a:pt x="1114264" y="0"/>
                </a:cubicBezTo>
                <a:cubicBezTo>
                  <a:pt x="1114264" y="0"/>
                  <a:pt x="1114264" y="0"/>
                  <a:pt x="6544376" y="0"/>
                </a:cubicBezTo>
                <a:cubicBezTo>
                  <a:pt x="6567842" y="0"/>
                  <a:pt x="6591309" y="10510"/>
                  <a:pt x="6610082" y="26276"/>
                </a:cubicBezTo>
                <a:cubicBezTo>
                  <a:pt x="6614775" y="26276"/>
                  <a:pt x="6619468" y="31531"/>
                  <a:pt x="6619468" y="36786"/>
                </a:cubicBezTo>
                <a:cubicBezTo>
                  <a:pt x="6619468" y="36786"/>
                  <a:pt x="6619468" y="36786"/>
                  <a:pt x="7506496" y="1024760"/>
                </a:cubicBezTo>
                <a:cubicBezTo>
                  <a:pt x="7534656" y="1056291"/>
                  <a:pt x="7534656" y="1108843"/>
                  <a:pt x="7506496" y="1140374"/>
                </a:cubicBezTo>
                <a:cubicBezTo>
                  <a:pt x="7506496" y="1140374"/>
                  <a:pt x="7506496" y="1140374"/>
                  <a:pt x="6619468" y="2133603"/>
                </a:cubicBezTo>
                <a:cubicBezTo>
                  <a:pt x="6619468" y="2133603"/>
                  <a:pt x="6614775" y="2138858"/>
                  <a:pt x="6610082" y="2144113"/>
                </a:cubicBezTo>
                <a:cubicBezTo>
                  <a:pt x="6591309" y="2159879"/>
                  <a:pt x="6567842" y="2170389"/>
                  <a:pt x="6544376" y="2170389"/>
                </a:cubicBezTo>
                <a:cubicBezTo>
                  <a:pt x="6544376" y="2170389"/>
                  <a:pt x="6544376" y="2170389"/>
                  <a:pt x="1114264" y="2170389"/>
                </a:cubicBezTo>
                <a:cubicBezTo>
                  <a:pt x="1114264" y="2170389"/>
                  <a:pt x="1114264" y="2170389"/>
                  <a:pt x="926533" y="2170389"/>
                </a:cubicBezTo>
                <a:cubicBezTo>
                  <a:pt x="926533" y="2170389"/>
                  <a:pt x="926533" y="2170389"/>
                  <a:pt x="146150" y="2170389"/>
                </a:cubicBezTo>
                <a:lnTo>
                  <a:pt x="0" y="2170389"/>
                </a:lnTo>
                <a:close/>
              </a:path>
            </a:pathLst>
          </a:custGeom>
          <a:solidFill>
            <a:srgbClr val="65634C">
              <a:alpha val="87843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3729DC4D-7831-6E0B-63C3-1FA272A67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157" y="3997551"/>
            <a:ext cx="4108824" cy="103209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1" dirty="0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CHECKERS</a:t>
            </a:r>
          </a:p>
        </p:txBody>
      </p:sp>
    </p:spTree>
    <p:extLst>
      <p:ext uri="{BB962C8B-B14F-4D97-AF65-F5344CB8AC3E}">
        <p14:creationId xmlns:p14="http://schemas.microsoft.com/office/powerpoint/2010/main" val="28974792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7400" y="541814"/>
            <a:ext cx="6589199" cy="1280890"/>
          </a:xfrm>
        </p:spPr>
        <p:txBody>
          <a:bodyPr/>
          <a:lstStyle/>
          <a:p>
            <a:pPr algn="ctr"/>
            <a:r>
              <a:rPr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Application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33855" y="1822704"/>
            <a:ext cx="6003721" cy="377762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Checkers application is a desktop program that implements the game of checkers.</a:t>
            </a:r>
            <a:r>
              <a:rPr lang="hr-HR" dirty="0"/>
              <a:t> </a:t>
            </a:r>
            <a:r>
              <a:rPr lang="en-US" dirty="0"/>
              <a:t>It is developed using C++ and the NetID GUI framework.</a:t>
            </a:r>
            <a:endParaRPr lang="hr-H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game follows official checkers rules and is played on an 8x8 board.</a:t>
            </a:r>
            <a:r>
              <a:rPr lang="hr-HR" dirty="0"/>
              <a:t> </a:t>
            </a:r>
            <a:r>
              <a:rPr lang="en-US" dirty="0"/>
              <a:t>The application separates the game engine, graphics, and controls.</a:t>
            </a:r>
            <a:endParaRPr lang="hr-H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modular structure makes the program maintainable, scalable, and easier to manage.</a:t>
            </a:r>
            <a:endParaRPr dirty="0"/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9F1B48D8-8D50-0B0E-8D67-293D0FA1B3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436571" y="713232"/>
            <a:ext cx="560832" cy="4206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F0EB019-D709-4673-B856-24B85B99E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9144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66DA9-5D88-42EA-A7A5-72245E5F8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6172199" cy="6858000"/>
          </a:xfrm>
          <a:prstGeom prst="rect">
            <a:avLst/>
          </a:prstGeom>
          <a:solidFill>
            <a:schemeClr val="bg2">
              <a:lumMod val="10000"/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r-HR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2F1EAD63-88F7-4C03-9CFF-FD14BEFB6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659027"/>
            <a:ext cx="6782018" cy="1035152"/>
          </a:xfrm>
          <a:custGeom>
            <a:avLst/>
            <a:gdLst>
              <a:gd name="T0" fmla="*/ 1900 w 1902"/>
              <a:gd name="T1" fmla="*/ 77 h 163"/>
              <a:gd name="T2" fmla="*/ 1826 w 1902"/>
              <a:gd name="T3" fmla="*/ 3 h 163"/>
              <a:gd name="T4" fmla="*/ 1825 w 1902"/>
              <a:gd name="T5" fmla="*/ 2 h 163"/>
              <a:gd name="T6" fmla="*/ 1819 w 1902"/>
              <a:gd name="T7" fmla="*/ 0 h 163"/>
              <a:gd name="T8" fmla="*/ 1363 w 1902"/>
              <a:gd name="T9" fmla="*/ 0 h 163"/>
              <a:gd name="T10" fmla="*/ 1348 w 1902"/>
              <a:gd name="T11" fmla="*/ 0 h 163"/>
              <a:gd name="T12" fmla="*/ 1225 w 1902"/>
              <a:gd name="T13" fmla="*/ 0 h 163"/>
              <a:gd name="T14" fmla="*/ 1033 w 1902"/>
              <a:gd name="T15" fmla="*/ 0 h 163"/>
              <a:gd name="T16" fmla="*/ 892 w 1902"/>
              <a:gd name="T17" fmla="*/ 0 h 163"/>
              <a:gd name="T18" fmla="*/ 786 w 1902"/>
              <a:gd name="T19" fmla="*/ 0 h 163"/>
              <a:gd name="T20" fmla="*/ 577 w 1902"/>
              <a:gd name="T21" fmla="*/ 0 h 163"/>
              <a:gd name="T22" fmla="*/ 562 w 1902"/>
              <a:gd name="T23" fmla="*/ 0 h 163"/>
              <a:gd name="T24" fmla="*/ 439 w 1902"/>
              <a:gd name="T25" fmla="*/ 0 h 163"/>
              <a:gd name="T26" fmla="*/ 106 w 1902"/>
              <a:gd name="T27" fmla="*/ 0 h 163"/>
              <a:gd name="T28" fmla="*/ 0 w 1902"/>
              <a:gd name="T29" fmla="*/ 0 h 163"/>
              <a:gd name="T30" fmla="*/ 0 w 1902"/>
              <a:gd name="T31" fmla="*/ 163 h 163"/>
              <a:gd name="T32" fmla="*/ 106 w 1902"/>
              <a:gd name="T33" fmla="*/ 163 h 163"/>
              <a:gd name="T34" fmla="*/ 439 w 1902"/>
              <a:gd name="T35" fmla="*/ 163 h 163"/>
              <a:gd name="T36" fmla="*/ 562 w 1902"/>
              <a:gd name="T37" fmla="*/ 163 h 163"/>
              <a:gd name="T38" fmla="*/ 577 w 1902"/>
              <a:gd name="T39" fmla="*/ 163 h 163"/>
              <a:gd name="T40" fmla="*/ 786 w 1902"/>
              <a:gd name="T41" fmla="*/ 163 h 163"/>
              <a:gd name="T42" fmla="*/ 892 w 1902"/>
              <a:gd name="T43" fmla="*/ 163 h 163"/>
              <a:gd name="T44" fmla="*/ 1033 w 1902"/>
              <a:gd name="T45" fmla="*/ 163 h 163"/>
              <a:gd name="T46" fmla="*/ 1225 w 1902"/>
              <a:gd name="T47" fmla="*/ 163 h 163"/>
              <a:gd name="T48" fmla="*/ 1348 w 1902"/>
              <a:gd name="T49" fmla="*/ 163 h 163"/>
              <a:gd name="T50" fmla="*/ 1363 w 1902"/>
              <a:gd name="T51" fmla="*/ 163 h 163"/>
              <a:gd name="T52" fmla="*/ 1819 w 1902"/>
              <a:gd name="T53" fmla="*/ 163 h 163"/>
              <a:gd name="T54" fmla="*/ 1825 w 1902"/>
              <a:gd name="T55" fmla="*/ 161 h 163"/>
              <a:gd name="T56" fmla="*/ 1826 w 1902"/>
              <a:gd name="T57" fmla="*/ 160 h 163"/>
              <a:gd name="T58" fmla="*/ 1900 w 1902"/>
              <a:gd name="T59" fmla="*/ 86 h 163"/>
              <a:gd name="T60" fmla="*/ 1900 w 1902"/>
              <a:gd name="T61" fmla="*/ 77 h 16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</a:cxnLst>
            <a:rect l="0" t="0" r="r" b="b"/>
            <a:pathLst>
              <a:path w="1902" h="163">
                <a:moveTo>
                  <a:pt x="1900" y="77"/>
                </a:moveTo>
                <a:cubicBezTo>
                  <a:pt x="1826" y="3"/>
                  <a:pt x="1826" y="3"/>
                  <a:pt x="1826" y="3"/>
                </a:cubicBezTo>
                <a:cubicBezTo>
                  <a:pt x="1825" y="2"/>
                  <a:pt x="1825" y="2"/>
                  <a:pt x="1825" y="2"/>
                </a:cubicBezTo>
                <a:cubicBezTo>
                  <a:pt x="1823" y="1"/>
                  <a:pt x="1821" y="0"/>
                  <a:pt x="1819" y="0"/>
                </a:cubicBezTo>
                <a:cubicBezTo>
                  <a:pt x="1363" y="0"/>
                  <a:pt x="1363" y="0"/>
                  <a:pt x="1363" y="0"/>
                </a:cubicBezTo>
                <a:cubicBezTo>
                  <a:pt x="1348" y="0"/>
                  <a:pt x="1348" y="0"/>
                  <a:pt x="1348" y="0"/>
                </a:cubicBezTo>
                <a:cubicBezTo>
                  <a:pt x="1225" y="0"/>
                  <a:pt x="1225" y="0"/>
                  <a:pt x="1225" y="0"/>
                </a:cubicBezTo>
                <a:cubicBezTo>
                  <a:pt x="1033" y="0"/>
                  <a:pt x="1033" y="0"/>
                  <a:pt x="1033" y="0"/>
                </a:cubicBezTo>
                <a:cubicBezTo>
                  <a:pt x="892" y="0"/>
                  <a:pt x="892" y="0"/>
                  <a:pt x="892" y="0"/>
                </a:cubicBezTo>
                <a:cubicBezTo>
                  <a:pt x="786" y="0"/>
                  <a:pt x="786" y="0"/>
                  <a:pt x="786" y="0"/>
                </a:cubicBezTo>
                <a:cubicBezTo>
                  <a:pt x="577" y="0"/>
                  <a:pt x="577" y="0"/>
                  <a:pt x="577" y="0"/>
                </a:cubicBezTo>
                <a:cubicBezTo>
                  <a:pt x="562" y="0"/>
                  <a:pt x="562" y="0"/>
                  <a:pt x="562" y="0"/>
                </a:cubicBezTo>
                <a:cubicBezTo>
                  <a:pt x="439" y="0"/>
                  <a:pt x="439" y="0"/>
                  <a:pt x="439" y="0"/>
                </a:cubicBezTo>
                <a:cubicBezTo>
                  <a:pt x="106" y="0"/>
                  <a:pt x="106" y="0"/>
                  <a:pt x="10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3"/>
                  <a:pt x="0" y="163"/>
                  <a:pt x="0" y="163"/>
                </a:cubicBezTo>
                <a:cubicBezTo>
                  <a:pt x="106" y="163"/>
                  <a:pt x="106" y="163"/>
                  <a:pt x="106" y="163"/>
                </a:cubicBezTo>
                <a:cubicBezTo>
                  <a:pt x="439" y="163"/>
                  <a:pt x="439" y="163"/>
                  <a:pt x="439" y="163"/>
                </a:cubicBezTo>
                <a:cubicBezTo>
                  <a:pt x="562" y="163"/>
                  <a:pt x="562" y="163"/>
                  <a:pt x="562" y="163"/>
                </a:cubicBezTo>
                <a:cubicBezTo>
                  <a:pt x="577" y="163"/>
                  <a:pt x="577" y="163"/>
                  <a:pt x="577" y="163"/>
                </a:cubicBezTo>
                <a:cubicBezTo>
                  <a:pt x="786" y="163"/>
                  <a:pt x="786" y="163"/>
                  <a:pt x="786" y="163"/>
                </a:cubicBezTo>
                <a:cubicBezTo>
                  <a:pt x="892" y="163"/>
                  <a:pt x="892" y="163"/>
                  <a:pt x="892" y="163"/>
                </a:cubicBezTo>
                <a:cubicBezTo>
                  <a:pt x="1033" y="163"/>
                  <a:pt x="1033" y="163"/>
                  <a:pt x="1033" y="163"/>
                </a:cubicBezTo>
                <a:cubicBezTo>
                  <a:pt x="1225" y="163"/>
                  <a:pt x="1225" y="163"/>
                  <a:pt x="1225" y="163"/>
                </a:cubicBezTo>
                <a:cubicBezTo>
                  <a:pt x="1348" y="163"/>
                  <a:pt x="1348" y="163"/>
                  <a:pt x="1348" y="163"/>
                </a:cubicBezTo>
                <a:cubicBezTo>
                  <a:pt x="1363" y="163"/>
                  <a:pt x="1363" y="163"/>
                  <a:pt x="1363" y="163"/>
                </a:cubicBezTo>
                <a:cubicBezTo>
                  <a:pt x="1819" y="163"/>
                  <a:pt x="1819" y="163"/>
                  <a:pt x="1819" y="163"/>
                </a:cubicBezTo>
                <a:cubicBezTo>
                  <a:pt x="1821" y="163"/>
                  <a:pt x="1823" y="162"/>
                  <a:pt x="1825" y="161"/>
                </a:cubicBezTo>
                <a:cubicBezTo>
                  <a:pt x="1825" y="160"/>
                  <a:pt x="1825" y="160"/>
                  <a:pt x="1826" y="160"/>
                </a:cubicBezTo>
                <a:cubicBezTo>
                  <a:pt x="1900" y="86"/>
                  <a:pt x="1900" y="86"/>
                  <a:pt x="1900" y="86"/>
                </a:cubicBezTo>
                <a:cubicBezTo>
                  <a:pt x="1902" y="83"/>
                  <a:pt x="1902" y="79"/>
                  <a:pt x="1900" y="7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6400" y="787400"/>
            <a:ext cx="5359399" cy="778933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hr-HR" sz="2400" b="1" dirty="0" err="1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Movement</a:t>
            </a:r>
            <a:r>
              <a:rPr lang="hr-HR" sz="2400" b="1" dirty="0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hr-HR" sz="2400" b="1" dirty="0" err="1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and</a:t>
            </a:r>
            <a:r>
              <a:rPr lang="hr-HR" sz="2400" b="1" dirty="0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hr-HR" sz="2400" b="1" dirty="0" err="1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Capture</a:t>
            </a:r>
            <a:r>
              <a:rPr lang="hr-HR" sz="2400" b="1" dirty="0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hr-HR" sz="2400" b="1" dirty="0" err="1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Mechanics</a:t>
            </a:r>
            <a:endParaRPr lang="hr-HR" sz="2400" b="1" dirty="0">
              <a:solidFill>
                <a:srgbClr val="FE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6399" y="2032000"/>
            <a:ext cx="5359400" cy="387922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EFFFF"/>
                </a:solidFill>
              </a:rPr>
              <a:t>Piece movement follows official checkers rules with enforced diagonal motion. The engine validates all legal moves before execution. Mandatory captures are implemented, and recursive search enables multi‑jump capture sequences.</a:t>
            </a:r>
            <a:endParaRPr lang="hr-HR" dirty="0">
              <a:solidFill>
                <a:srgbClr val="FEFFFF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hr-HR" dirty="0">
              <a:solidFill>
                <a:srgbClr val="FEFFFF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EFFFF"/>
                </a:solidFill>
              </a:rPr>
              <a:t> Captured pieces are removed during animated transitions to synchronize logic and visuals.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792" y="2136064"/>
            <a:ext cx="2251449" cy="16491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86" y="4219966"/>
            <a:ext cx="2251448" cy="15084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3C2D7E-3F2E-404E-9B30-CB12DC972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F7FD00-BF97-4325-B7C2-E451F20840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2306695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r-HR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51955CDF-135A-3993-9D98-AF76013E4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3222" y="581227"/>
            <a:ext cx="7037556" cy="1280890"/>
          </a:xfrm>
        </p:spPr>
        <p:txBody>
          <a:bodyPr>
            <a:normAutofit/>
          </a:bodyPr>
          <a:lstStyle/>
          <a:p>
            <a:pPr algn="ctr"/>
            <a:r>
              <a:rPr lang="hr-HR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Artificial</a:t>
            </a:r>
            <a:r>
              <a:rPr lang="hr-H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r-HR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Intelligence</a:t>
            </a:r>
            <a:r>
              <a:rPr lang="hr-HR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79B5294-DA4E-4926-B14A-DD6E07A12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V="1">
            <a:off x="-3141" y="714375"/>
            <a:ext cx="1191394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r-HR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A9223E0-1335-BA8A-788A-7691F2B66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040" y="2623930"/>
            <a:ext cx="8641080" cy="380430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AI opponent uses the Minimax algorithm with Alpha-Beta pruning to decide its moves. It simulates possible future moves and evaluates board states to choose the most optimal action. </a:t>
            </a:r>
            <a:endParaRPr lang="hr-H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algorithm assumes the opponent also plays optimally, so it maximizes its own advantage while minimizing the opponent’s gain. Board positions are evaluated using a heuristic function. The heuristic considers factors such as the number of pieces, the higher value of king pieces, piece mobility, and positional advantages. </a:t>
            </a:r>
            <a:endParaRPr lang="hr-H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Alpha-Beta pruning increases efficiency by cutting off branches that do not affect the final decision. This reduces unnecessary computations while maintaining strong decision quality.</a:t>
            </a:r>
            <a:endParaRPr lang="hr-HR" dirty="0"/>
          </a:p>
        </p:txBody>
      </p:sp>
      <p:sp>
        <p:nvSpPr>
          <p:cNvPr id="5" name="Pravokutnik 4">
            <a:extLst>
              <a:ext uri="{FF2B5EF4-FFF2-40B4-BE49-F238E27FC236}">
                <a16:creationId xmlns:a16="http://schemas.microsoft.com/office/drawing/2014/main" id="{3DA0AD6F-15B0-5512-F811-B2BD484583F6}"/>
              </a:ext>
            </a:extLst>
          </p:cNvPr>
          <p:cNvSpPr/>
          <p:nvPr/>
        </p:nvSpPr>
        <p:spPr>
          <a:xfrm>
            <a:off x="-3141" y="581227"/>
            <a:ext cx="1191394" cy="749808"/>
          </a:xfrm>
          <a:prstGeom prst="rect">
            <a:avLst/>
          </a:prstGeom>
          <a:solidFill>
            <a:srgbClr val="3B372A"/>
          </a:solidFill>
          <a:ln>
            <a:solidFill>
              <a:srgbClr val="3B372A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077226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E491B121-12B5-4977-A064-636AB0B9B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9144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918" y="645106"/>
            <a:ext cx="4930902" cy="1259894"/>
          </a:xfrm>
        </p:spPr>
        <p:txBody>
          <a:bodyPr>
            <a:normAutofit/>
          </a:bodyPr>
          <a:lstStyle/>
          <a:p>
            <a:r>
              <a:rPr lang="hr-H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Game </a:t>
            </a:r>
            <a:r>
              <a:rPr lang="hr-HR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Board</a:t>
            </a:r>
            <a:r>
              <a:rPr lang="hr-H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hr-HR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and</a:t>
            </a:r>
            <a:r>
              <a:rPr lang="hr-H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hr-HR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Rendering</a:t>
            </a:r>
            <a:endParaRPr lang="hr-H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Rectangle 10">
            <a:extLst>
              <a:ext uri="{FF2B5EF4-FFF2-40B4-BE49-F238E27FC236}">
                <a16:creationId xmlns:a16="http://schemas.microsoft.com/office/drawing/2014/main" id="{2ED05F70-AB3E-4472-B26B-EFE6A5A59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r-H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6918" y="2133600"/>
            <a:ext cx="4930901" cy="375925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board is rendered dynamically using the GUI Canvas system. It automatically scales with window resizing while maintaining correct proportions. </a:t>
            </a:r>
            <a:endParaRPr lang="hr-H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Sprites are used for pieces, highlights, and overlays, allowing visual feedback for selected pieces and legal moves. The rendering loop continuously updates animations and board states.</a:t>
            </a:r>
          </a:p>
        </p:txBody>
      </p:sp>
      <p:pic>
        <p:nvPicPr>
          <p:cNvPr id="4" name="Picture 3" descr="Slika na kojoj se prikazuje igra na ploči dame, dvoranske igre i sportovi, igra na ploči, Igre&#10;&#10;Sadržaj generiran uz AI možda nije toča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1566" y="1779667"/>
            <a:ext cx="2986091" cy="29786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Freeform 11">
            <a:extLst>
              <a:ext uri="{FF2B5EF4-FFF2-40B4-BE49-F238E27FC236}">
                <a16:creationId xmlns:a16="http://schemas.microsoft.com/office/drawing/2014/main" id="{21F6BE39-9E37-45F0-B10C-92305CFB7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61223"/>
            <a:ext cx="77852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EA574D78-4FE7-E0F7-7D28-974A86F8E6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108847" y="6079442"/>
            <a:ext cx="560832" cy="4206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8564" y="591120"/>
            <a:ext cx="7950884" cy="789624"/>
          </a:xfrm>
        </p:spPr>
        <p:txBody>
          <a:bodyPr>
            <a:normAutofit/>
          </a:bodyPr>
          <a:lstStyle/>
          <a:p>
            <a:r>
              <a:rPr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Game End Detection and Dialogs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3024" y="1380744"/>
            <a:ext cx="7064924" cy="3478284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engine continuously monitors the game state in real time. It detects win, loss, and draw conditions automatically. </a:t>
            </a:r>
            <a:endParaRPr lang="hr-H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player loses when they have no legal moves remaining. Draws are determined using the no-capture move limit rule to prevent endless play. </a:t>
            </a:r>
            <a:endParaRPr lang="hr-H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When the game ends, a dialog window displays the result. The dialog also offers options to restart the game or close the session.</a:t>
            </a:r>
            <a:endParaRPr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577" y="4358132"/>
            <a:ext cx="5819818" cy="16383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4CE7C8B3-DABA-C9E1-1AD7-96567688B7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436571" y="713232"/>
            <a:ext cx="560832" cy="420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7DA8593-5BA7-45F3-B447-37FB2B9F7E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9144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9263" y="432342"/>
            <a:ext cx="3554730" cy="1259894"/>
          </a:xfrm>
        </p:spPr>
        <p:txBody>
          <a:bodyPr>
            <a:normAutofit/>
          </a:bodyPr>
          <a:lstStyle/>
          <a:p>
            <a:r>
              <a:rPr b="1" dirty="0"/>
              <a:t>User Interface and Settings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5CBF17-C0BF-49C1-8FB7-B43A3545D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r-H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9263" y="1955518"/>
            <a:ext cx="4930901" cy="375925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interface includes a menu bar, toolbar, and settings dialog. Players can start or reset matches, adjust toolbar display, and change language settings.</a:t>
            </a:r>
            <a:endParaRPr lang="hr-HR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Localization is handled through XML translation resources, and restart prompts ensure language changes apply correctly across the application.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1564" y="1692236"/>
            <a:ext cx="2986091" cy="22470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565" y="4688871"/>
            <a:ext cx="2986091" cy="8361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Freeform 11">
            <a:extLst>
              <a:ext uri="{FF2B5EF4-FFF2-40B4-BE49-F238E27FC236}">
                <a16:creationId xmlns:a16="http://schemas.microsoft.com/office/drawing/2014/main" id="{F5147F3F-3E4A-4255-8C92-856618C47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61223"/>
            <a:ext cx="77852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lika 4" descr="Slika na kojoj se prikazuje ukrasni isječci, crtić, lopta, igra na ploči dame&#10;&#10;Sadržaj generiran uz AI možda nije točan.">
            <a:extLst>
              <a:ext uri="{FF2B5EF4-FFF2-40B4-BE49-F238E27FC236}">
                <a16:creationId xmlns:a16="http://schemas.microsoft.com/office/drawing/2014/main" id="{2F7FDD99-60FE-EB0F-8D80-68571D6DD8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61" b="89844" l="7227" r="92578">
                        <a14:foregroundMark x1="8496" y1="37207" x2="8496" y2="37207"/>
                        <a14:foregroundMark x1="7227" y1="51953" x2="7227" y2="51953"/>
                        <a14:foregroundMark x1="80762" y1="30566" x2="80762" y2="30566"/>
                        <a14:foregroundMark x1="77246" y1="29883" x2="76367" y2="31738"/>
                        <a14:foregroundMark x1="77734" y1="26758" x2="77734" y2="26758"/>
                        <a14:foregroundMark x1="75098" y1="26758" x2="80176" y2="29297"/>
                        <a14:foregroundMark x1="49902" y1="16797" x2="43848" y2="21094"/>
                        <a14:foregroundMark x1="43848" y1="21094" x2="67871" y2="22266"/>
                        <a14:foregroundMark x1="40625" y1="21582" x2="40234" y2="30176"/>
                        <a14:foregroundMark x1="40234" y1="30176" x2="39063" y2="30566"/>
                        <a14:foregroundMark x1="47070" y1="25195" x2="47461" y2="25488"/>
                        <a14:foregroundMark x1="55957" y1="30176" x2="57031" y2="30762"/>
                        <a14:foregroundMark x1="62402" y1="34570" x2="62402" y2="34570"/>
                        <a14:foregroundMark x1="63965" y1="26172" x2="63965" y2="26172"/>
                        <a14:foregroundMark x1="62012" y1="17773" x2="62012" y2="17773"/>
                        <a14:foregroundMark x1="36523" y1="18262" x2="36523" y2="18262"/>
                        <a14:foregroundMark x1="28418" y1="23340" x2="28418" y2="23340"/>
                        <a14:foregroundMark x1="34961" y1="26367" x2="34961" y2="26367"/>
                        <a14:foregroundMark x1="22168" y1="22754" x2="22168" y2="22754"/>
                        <a14:foregroundMark x1="39063" y1="16016" x2="39063" y2="16016"/>
                        <a14:foregroundMark x1="61230" y1="15820" x2="61230" y2="15820"/>
                        <a14:foregroundMark x1="48926" y1="26367" x2="48926" y2="26367"/>
                        <a14:foregroundMark x1="37695" y1="18945" x2="37695" y2="18945"/>
                        <a14:foregroundMark x1="63184" y1="25781" x2="63184" y2="25781"/>
                        <a14:foregroundMark x1="78125" y1="48242" x2="78125" y2="48242"/>
                        <a14:foregroundMark x1="77246" y1="55176" x2="77246" y2="55176"/>
                        <a14:foregroundMark x1="69629" y1="54004" x2="69629" y2="54004"/>
                        <a14:foregroundMark x1="70410" y1="52246" x2="70410" y2="52246"/>
                        <a14:foregroundMark x1="43359" y1="51855" x2="43359" y2="51855"/>
                        <a14:foregroundMark x1="44531" y1="53027" x2="44531" y2="53027"/>
                        <a14:foregroundMark x1="43066" y1="54297" x2="43066" y2="54297"/>
                        <a14:foregroundMark x1="36914" y1="53418" x2="36914" y2="53418"/>
                        <a14:foregroundMark x1="32910" y1="53027" x2="32910" y2="53027"/>
                        <a14:foregroundMark x1="30176" y1="53027" x2="32520" y2="56641"/>
                        <a14:foregroundMark x1="27246" y1="54102" x2="27246" y2="54102"/>
                        <a14:foregroundMark x1="19629" y1="56250" x2="19629" y2="56250"/>
                        <a14:foregroundMark x1="15234" y1="55566" x2="15234" y2="55566"/>
                        <a14:foregroundMark x1="16504" y1="56152" x2="16504" y2="56152"/>
                        <a14:foregroundMark x1="43066" y1="79492" x2="48242" y2="80566"/>
                        <a14:foregroundMark x1="66309" y1="70020" x2="59277" y2="70996"/>
                        <a14:foregroundMark x1="59277" y1="70996" x2="59082" y2="70898"/>
                        <a14:foregroundMark x1="91309" y1="37500" x2="91309" y2="37500"/>
                        <a14:foregroundMark x1="92578" y1="53320" x2="92578" y2="53320"/>
                      </a14:backgroundRemoval>
                    </a14:imgEffect>
                  </a14:imgLayer>
                </a14:imgProps>
              </a:ext>
            </a:extLst>
          </a:blip>
          <a:srcRect t="7742" b="17258"/>
          <a:stretch>
            <a:fillRect/>
          </a:stretch>
        </p:blipFill>
        <p:spPr>
          <a:xfrm>
            <a:off x="108847" y="6073700"/>
            <a:ext cx="560832" cy="4206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37B59-B4E8-1F52-5A06-9123E30B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398C59F-5A18-487B-91D6-B955AACF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0" y="228600"/>
            <a:ext cx="2138628" cy="6638625"/>
            <a:chOff x="2487613" y="285750"/>
            <a:chExt cx="2428875" cy="5654676"/>
          </a:xfrm>
        </p:grpSpPr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0557FAFE-C7C3-47EC-A4F5-9B21663192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95BC28FB-3882-4674-9D79-EA58BEB7C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9C6EC892-83F9-402F-8552-0AD7C0556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18387766-037C-4EF0-8471-D19CBF2A4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4" name="Freeform 15">
              <a:extLst>
                <a:ext uri="{FF2B5EF4-FFF2-40B4-BE49-F238E27FC236}">
                  <a16:creationId xmlns:a16="http://schemas.microsoft.com/office/drawing/2014/main" id="{1E364F38-6F3A-476A-93E6-962EA817C4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5" name="Freeform 16">
              <a:extLst>
                <a:ext uri="{FF2B5EF4-FFF2-40B4-BE49-F238E27FC236}">
                  <a16:creationId xmlns:a16="http://schemas.microsoft.com/office/drawing/2014/main" id="{35C335A4-1E67-4293-8BE2-DFB085D4FB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6" name="Freeform 17">
              <a:extLst>
                <a:ext uri="{FF2B5EF4-FFF2-40B4-BE49-F238E27FC236}">
                  <a16:creationId xmlns:a16="http://schemas.microsoft.com/office/drawing/2014/main" id="{9A8A0F10-2C98-4297-9F92-5D95533927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7" name="Freeform 18">
              <a:extLst>
                <a:ext uri="{FF2B5EF4-FFF2-40B4-BE49-F238E27FC236}">
                  <a16:creationId xmlns:a16="http://schemas.microsoft.com/office/drawing/2014/main" id="{C3B112A3-006E-4008-A778-DB5F6A09D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8" name="Freeform 19">
              <a:extLst>
                <a:ext uri="{FF2B5EF4-FFF2-40B4-BE49-F238E27FC236}">
                  <a16:creationId xmlns:a16="http://schemas.microsoft.com/office/drawing/2014/main" id="{E5E62767-5C25-4C49-9568-432433A3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9" name="Freeform 20">
              <a:extLst>
                <a:ext uri="{FF2B5EF4-FFF2-40B4-BE49-F238E27FC236}">
                  <a16:creationId xmlns:a16="http://schemas.microsoft.com/office/drawing/2014/main" id="{598EC006-77B1-42BA-B815-66CCB9B170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0" name="Freeform 21">
              <a:extLst>
                <a:ext uri="{FF2B5EF4-FFF2-40B4-BE49-F238E27FC236}">
                  <a16:creationId xmlns:a16="http://schemas.microsoft.com/office/drawing/2014/main" id="{A144ED09-DA06-491D-95A8-AB3DED432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1" name="Freeform 22">
              <a:extLst>
                <a:ext uri="{FF2B5EF4-FFF2-40B4-BE49-F238E27FC236}">
                  <a16:creationId xmlns:a16="http://schemas.microsoft.com/office/drawing/2014/main" id="{1CB00BD2-11CD-4A38-8F38-02B0D1105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20234FB-542E-4550-9C2F-1B56FD41A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412" y="-786"/>
            <a:ext cx="1767505" cy="6854040"/>
            <a:chOff x="6627813" y="194833"/>
            <a:chExt cx="1952625" cy="5678918"/>
          </a:xfrm>
        </p:grpSpPr>
        <p:sp>
          <p:nvSpPr>
            <p:cNvPr id="24" name="Freeform 27">
              <a:extLst>
                <a:ext uri="{FF2B5EF4-FFF2-40B4-BE49-F238E27FC236}">
                  <a16:creationId xmlns:a16="http://schemas.microsoft.com/office/drawing/2014/main" id="{41FCE1F3-DEB3-47CD-90FF-7DABB4AF45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5" name="Freeform 28">
              <a:extLst>
                <a:ext uri="{FF2B5EF4-FFF2-40B4-BE49-F238E27FC236}">
                  <a16:creationId xmlns:a16="http://schemas.microsoft.com/office/drawing/2014/main" id="{5708E488-C19B-452C-B197-6F1C34F6E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6" name="Freeform 29">
              <a:extLst>
                <a:ext uri="{FF2B5EF4-FFF2-40B4-BE49-F238E27FC236}">
                  <a16:creationId xmlns:a16="http://schemas.microsoft.com/office/drawing/2014/main" id="{89D3FD25-890E-4981-A71D-EE796873D7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7" name="Freeform 30">
              <a:extLst>
                <a:ext uri="{FF2B5EF4-FFF2-40B4-BE49-F238E27FC236}">
                  <a16:creationId xmlns:a16="http://schemas.microsoft.com/office/drawing/2014/main" id="{51B5414C-556A-47CB-8EE2-974A85A7A4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8" name="Freeform 31">
              <a:extLst>
                <a:ext uri="{FF2B5EF4-FFF2-40B4-BE49-F238E27FC236}">
                  <a16:creationId xmlns:a16="http://schemas.microsoft.com/office/drawing/2014/main" id="{1C02B20C-2B27-4B75-8AEE-A5D2E2674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9" name="Freeform 32">
              <a:extLst>
                <a:ext uri="{FF2B5EF4-FFF2-40B4-BE49-F238E27FC236}">
                  <a16:creationId xmlns:a16="http://schemas.microsoft.com/office/drawing/2014/main" id="{54427714-F9AA-4F93-BD1D-400F1EA93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0" name="Freeform 33">
              <a:extLst>
                <a:ext uri="{FF2B5EF4-FFF2-40B4-BE49-F238E27FC236}">
                  <a16:creationId xmlns:a16="http://schemas.microsoft.com/office/drawing/2014/main" id="{28A77D6A-9E81-497F-ABCC-2695BB5AD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1" name="Freeform 34">
              <a:extLst>
                <a:ext uri="{FF2B5EF4-FFF2-40B4-BE49-F238E27FC236}">
                  <a16:creationId xmlns:a16="http://schemas.microsoft.com/office/drawing/2014/main" id="{2A1533BA-1478-4F7C-8E24-3F3E905050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39686201-E633-40FD-A80A-1E28AD52E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6A215C2-F590-4938-810B-F8A79366C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4" name="Freeform 37">
              <a:extLst>
                <a:ext uri="{FF2B5EF4-FFF2-40B4-BE49-F238E27FC236}">
                  <a16:creationId xmlns:a16="http://schemas.microsoft.com/office/drawing/2014/main" id="{85F418E7-330D-4002-8EC8-33C1A897FF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5" name="Freeform 38">
              <a:extLst>
                <a:ext uri="{FF2B5EF4-FFF2-40B4-BE49-F238E27FC236}">
                  <a16:creationId xmlns:a16="http://schemas.microsoft.com/office/drawing/2014/main" id="{8FFE669A-54C9-4436-9566-C5A90F16DB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r-HR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DE91395A-2D18-4AF6-A0AC-AAA7189FE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r-HR"/>
          </a:p>
        </p:txBody>
      </p:sp>
      <p:sp>
        <p:nvSpPr>
          <p:cNvPr id="39" name="Freeform 6">
            <a:extLst>
              <a:ext uri="{FF2B5EF4-FFF2-40B4-BE49-F238E27FC236}">
                <a16:creationId xmlns:a16="http://schemas.microsoft.com/office/drawing/2014/main" id="{7BD08880-457D-4C62-A3B5-6A9B0878C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0" y="4323810"/>
            <a:ext cx="1308489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r-HR"/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95FFA5E0-4C70-431D-A19D-18415F6C4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BE55C11-4C41-45E4-A00F-83DEE6BB5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3632297"/>
            <a:ext cx="5645712" cy="2170389"/>
          </a:xfrm>
          <a:custGeom>
            <a:avLst/>
            <a:gdLst>
              <a:gd name="connsiteX0" fmla="*/ 0 w 7527616"/>
              <a:gd name="connsiteY0" fmla="*/ 0 h 2170389"/>
              <a:gd name="connsiteX1" fmla="*/ 85411 w 7527616"/>
              <a:gd name="connsiteY1" fmla="*/ 0 h 2170389"/>
              <a:gd name="connsiteX2" fmla="*/ 926533 w 7527616"/>
              <a:gd name="connsiteY2" fmla="*/ 0 h 2170389"/>
              <a:gd name="connsiteX3" fmla="*/ 1114264 w 7527616"/>
              <a:gd name="connsiteY3" fmla="*/ 0 h 2170389"/>
              <a:gd name="connsiteX4" fmla="*/ 6544376 w 7527616"/>
              <a:gd name="connsiteY4" fmla="*/ 0 h 2170389"/>
              <a:gd name="connsiteX5" fmla="*/ 6610082 w 7527616"/>
              <a:gd name="connsiteY5" fmla="*/ 26276 h 2170389"/>
              <a:gd name="connsiteX6" fmla="*/ 6619468 w 7527616"/>
              <a:gd name="connsiteY6" fmla="*/ 36786 h 2170389"/>
              <a:gd name="connsiteX7" fmla="*/ 7506496 w 7527616"/>
              <a:gd name="connsiteY7" fmla="*/ 1024760 h 2170389"/>
              <a:gd name="connsiteX8" fmla="*/ 7506496 w 7527616"/>
              <a:gd name="connsiteY8" fmla="*/ 1140374 h 2170389"/>
              <a:gd name="connsiteX9" fmla="*/ 6619468 w 7527616"/>
              <a:gd name="connsiteY9" fmla="*/ 2133603 h 2170389"/>
              <a:gd name="connsiteX10" fmla="*/ 6610082 w 7527616"/>
              <a:gd name="connsiteY10" fmla="*/ 2144113 h 2170389"/>
              <a:gd name="connsiteX11" fmla="*/ 6544376 w 7527616"/>
              <a:gd name="connsiteY11" fmla="*/ 2170389 h 2170389"/>
              <a:gd name="connsiteX12" fmla="*/ 1114264 w 7527616"/>
              <a:gd name="connsiteY12" fmla="*/ 2170389 h 2170389"/>
              <a:gd name="connsiteX13" fmla="*/ 926533 w 7527616"/>
              <a:gd name="connsiteY13" fmla="*/ 2170389 h 2170389"/>
              <a:gd name="connsiteX14" fmla="*/ 146150 w 7527616"/>
              <a:gd name="connsiteY14" fmla="*/ 2170389 h 2170389"/>
              <a:gd name="connsiteX15" fmla="*/ 0 w 7527616"/>
              <a:gd name="connsiteY15" fmla="*/ 2170389 h 2170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27616" h="2170389">
                <a:moveTo>
                  <a:pt x="0" y="0"/>
                </a:moveTo>
                <a:lnTo>
                  <a:pt x="85411" y="0"/>
                </a:lnTo>
                <a:cubicBezTo>
                  <a:pt x="290008" y="0"/>
                  <a:pt x="562804" y="0"/>
                  <a:pt x="926533" y="0"/>
                </a:cubicBezTo>
                <a:cubicBezTo>
                  <a:pt x="926533" y="0"/>
                  <a:pt x="926533" y="0"/>
                  <a:pt x="1114264" y="0"/>
                </a:cubicBezTo>
                <a:cubicBezTo>
                  <a:pt x="1114264" y="0"/>
                  <a:pt x="1114264" y="0"/>
                  <a:pt x="6544376" y="0"/>
                </a:cubicBezTo>
                <a:cubicBezTo>
                  <a:pt x="6567842" y="0"/>
                  <a:pt x="6591309" y="10510"/>
                  <a:pt x="6610082" y="26276"/>
                </a:cubicBezTo>
                <a:cubicBezTo>
                  <a:pt x="6614775" y="26276"/>
                  <a:pt x="6619468" y="31531"/>
                  <a:pt x="6619468" y="36786"/>
                </a:cubicBezTo>
                <a:cubicBezTo>
                  <a:pt x="6619468" y="36786"/>
                  <a:pt x="6619468" y="36786"/>
                  <a:pt x="7506496" y="1024760"/>
                </a:cubicBezTo>
                <a:cubicBezTo>
                  <a:pt x="7534656" y="1056291"/>
                  <a:pt x="7534656" y="1108843"/>
                  <a:pt x="7506496" y="1140374"/>
                </a:cubicBezTo>
                <a:cubicBezTo>
                  <a:pt x="7506496" y="1140374"/>
                  <a:pt x="7506496" y="1140374"/>
                  <a:pt x="6619468" y="2133603"/>
                </a:cubicBezTo>
                <a:cubicBezTo>
                  <a:pt x="6619468" y="2133603"/>
                  <a:pt x="6614775" y="2138858"/>
                  <a:pt x="6610082" y="2144113"/>
                </a:cubicBezTo>
                <a:cubicBezTo>
                  <a:pt x="6591309" y="2159879"/>
                  <a:pt x="6567842" y="2170389"/>
                  <a:pt x="6544376" y="2170389"/>
                </a:cubicBezTo>
                <a:cubicBezTo>
                  <a:pt x="6544376" y="2170389"/>
                  <a:pt x="6544376" y="2170389"/>
                  <a:pt x="1114264" y="2170389"/>
                </a:cubicBezTo>
                <a:cubicBezTo>
                  <a:pt x="1114264" y="2170389"/>
                  <a:pt x="1114264" y="2170389"/>
                  <a:pt x="926533" y="2170389"/>
                </a:cubicBezTo>
                <a:cubicBezTo>
                  <a:pt x="926533" y="2170389"/>
                  <a:pt x="926533" y="2170389"/>
                  <a:pt x="146150" y="2170389"/>
                </a:cubicBezTo>
                <a:lnTo>
                  <a:pt x="0" y="2170389"/>
                </a:lnTo>
                <a:close/>
              </a:path>
            </a:pathLst>
          </a:custGeom>
          <a:solidFill>
            <a:srgbClr val="65634C">
              <a:alpha val="87843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7BBDDA9-0C25-C93F-959C-8FBF558B0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921" y="4100262"/>
            <a:ext cx="4932698" cy="103209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5400" b="1" dirty="0">
                <a:solidFill>
                  <a:srgbClr val="FE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THE END</a:t>
            </a:r>
          </a:p>
        </p:txBody>
      </p:sp>
      <p:pic>
        <p:nvPicPr>
          <p:cNvPr id="22" name="Slika 21" descr="Slika na kojoj se prikazuje Crtić, ukrasni isječci, fikcija, Animacija&#10;&#10;Sadržaj generiran uz AI možda nije točan.">
            <a:extLst>
              <a:ext uri="{FF2B5EF4-FFF2-40B4-BE49-F238E27FC236}">
                <a16:creationId xmlns:a16="http://schemas.microsoft.com/office/drawing/2014/main" id="{FCDAF667-CD56-1D43-35F8-2A6DF49A2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6476" y="-438684"/>
            <a:ext cx="4159288" cy="6241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4887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102</TotalTime>
  <Words>429</Words>
  <Application>Microsoft Office PowerPoint</Application>
  <PresentationFormat>Prikaz na zaslonu (4:3)</PresentationFormat>
  <Paragraphs>24</Paragraphs>
  <Slides>8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4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8</vt:i4>
      </vt:variant>
    </vt:vector>
  </HeadingPairs>
  <TitlesOfParts>
    <vt:vector size="13" baseType="lpstr">
      <vt:lpstr>Arial</vt:lpstr>
      <vt:lpstr>Century Gothic</vt:lpstr>
      <vt:lpstr>Times New Roman</vt:lpstr>
      <vt:lpstr>Wingdings 3</vt:lpstr>
      <vt:lpstr>Wisp</vt:lpstr>
      <vt:lpstr>CHECKERS</vt:lpstr>
      <vt:lpstr>Application Overview</vt:lpstr>
      <vt:lpstr>Movement and Capture Mechanics</vt:lpstr>
      <vt:lpstr>Artificial Intelligence System</vt:lpstr>
      <vt:lpstr>Game Board and Rendering</vt:lpstr>
      <vt:lpstr>Game End Detection and Dialogs</vt:lpstr>
      <vt:lpstr>User Interface and Settings</vt:lpstr>
      <vt:lpstr>THE END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Application Overview</dc:title>
  <dc:subject/>
  <dc:creator>Elvir</dc:creator>
  <cp:keywords/>
  <dc:description>generated using python-pptx</dc:description>
  <cp:lastModifiedBy>admin admin</cp:lastModifiedBy>
  <cp:revision>6</cp:revision>
  <dcterms:created xsi:type="dcterms:W3CDTF">2013-01-27T09:14:16Z</dcterms:created>
  <dcterms:modified xsi:type="dcterms:W3CDTF">2026-02-28T15:30:54Z</dcterms:modified>
  <cp:category/>
</cp:coreProperties>
</file>