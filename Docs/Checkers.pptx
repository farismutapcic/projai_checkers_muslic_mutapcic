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64" r:id="rId2"/>
    <p:sldId id="256" r:id="rId3"/>
    <p:sldId id="258" r:id="rId4"/>
    <p:sldId id="263" r:id="rId5"/>
    <p:sldId id="257" r:id="rId6"/>
    <p:sldId id="260" r:id="rId7"/>
    <p:sldId id="261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ACF"/>
    <a:srgbClr val="E6EDD0"/>
    <a:srgbClr val="FBFCF7"/>
    <a:srgbClr val="766F54"/>
    <a:srgbClr val="3B3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1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3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2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9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65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5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7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9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7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1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0028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85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391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35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3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1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62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 descr="Player vs AI checkers logo with a checkered board and red and black pieces">
            <a:extLst>
              <a:ext uri="{FF2B5EF4-FFF2-40B4-BE49-F238E27FC236}">
                <a16:creationId xmlns:a16="http://schemas.microsoft.com/office/drawing/2014/main" id="{AC4C164C-C655-B3B5-33B5-7563BE29E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7227" r="92578">
                        <a14:foregroundMark x1="8496" y1="37207" x2="8496" y2="37207"/>
                        <a14:foregroundMark x1="7227" y1="51953" x2="7227" y2="51953"/>
                        <a14:foregroundMark x1="80762" y1="30566" x2="80762" y2="30566"/>
                        <a14:foregroundMark x1="77246" y1="29883" x2="76367" y2="31738"/>
                        <a14:foregroundMark x1="77734" y1="26758" x2="77734" y2="26758"/>
                        <a14:foregroundMark x1="75098" y1="26758" x2="80176" y2="29297"/>
                        <a14:foregroundMark x1="49902" y1="16797" x2="43848" y2="21094"/>
                        <a14:foregroundMark x1="43848" y1="21094" x2="67871" y2="22266"/>
                        <a14:foregroundMark x1="40625" y1="21582" x2="40234" y2="30176"/>
                        <a14:foregroundMark x1="40234" y1="30176" x2="39063" y2="30566"/>
                        <a14:foregroundMark x1="47070" y1="25195" x2="47461" y2="25488"/>
                        <a14:foregroundMark x1="55957" y1="30176" x2="57031" y2="30762"/>
                        <a14:foregroundMark x1="62402" y1="34570" x2="62402" y2="34570"/>
                        <a14:foregroundMark x1="63965" y1="26172" x2="63965" y2="26172"/>
                        <a14:foregroundMark x1="62012" y1="17773" x2="62012" y2="17773"/>
                        <a14:foregroundMark x1="36523" y1="18262" x2="36523" y2="18262"/>
                        <a14:foregroundMark x1="28418" y1="23340" x2="28418" y2="23340"/>
                        <a14:foregroundMark x1="34961" y1="26367" x2="34961" y2="26367"/>
                        <a14:foregroundMark x1="22168" y1="22754" x2="22168" y2="22754"/>
                        <a14:foregroundMark x1="39063" y1="16016" x2="39063" y2="16016"/>
                        <a14:foregroundMark x1="61230" y1="15820" x2="61230" y2="15820"/>
                        <a14:foregroundMark x1="48926" y1="26367" x2="48926" y2="26367"/>
                        <a14:foregroundMark x1="37695" y1="18945" x2="37695" y2="18945"/>
                        <a14:foregroundMark x1="63184" y1="25781" x2="63184" y2="25781"/>
                        <a14:foregroundMark x1="78125" y1="48242" x2="78125" y2="48242"/>
                        <a14:foregroundMark x1="77246" y1="55176" x2="77246" y2="55176"/>
                        <a14:foregroundMark x1="69629" y1="54004" x2="69629" y2="54004"/>
                        <a14:foregroundMark x1="70410" y1="52246" x2="70410" y2="52246"/>
                        <a14:foregroundMark x1="43359" y1="51855" x2="43359" y2="51855"/>
                        <a14:foregroundMark x1="44531" y1="53027" x2="44531" y2="53027"/>
                        <a14:foregroundMark x1="43066" y1="54297" x2="43066" y2="54297"/>
                        <a14:foregroundMark x1="36914" y1="53418" x2="36914" y2="53418"/>
                        <a14:foregroundMark x1="32910" y1="53027" x2="32910" y2="53027"/>
                        <a14:foregroundMark x1="30176" y1="53027" x2="32520" y2="56641"/>
                        <a14:foregroundMark x1="27246" y1="54102" x2="27246" y2="54102"/>
                        <a14:foregroundMark x1="19629" y1="56250" x2="19629" y2="56250"/>
                        <a14:foregroundMark x1="15234" y1="55566" x2="15234" y2="55566"/>
                        <a14:foregroundMark x1="16504" y1="56152" x2="16504" y2="56152"/>
                        <a14:foregroundMark x1="43066" y1="79492" x2="48242" y2="80566"/>
                        <a14:foregroundMark x1="66309" y1="70020" x2="59277" y2="70996"/>
                        <a14:foregroundMark x1="59277" y1="70996" x2="59082" y2="70898"/>
                        <a14:foregroundMark x1="91309" y1="37500" x2="91309" y2="37500"/>
                        <a14:foregroundMark x1="92578" y1="53320" x2="92578" y2="53320"/>
                      </a14:backgroundRemoval>
                    </a14:imgEffect>
                  </a14:imgLayer>
                </a14:imgProps>
              </a:ext>
            </a:extLst>
          </a:blip>
          <a:srcRect t="7742" b="17258"/>
          <a:stretch>
            <a:fillRect/>
          </a:stretch>
        </p:blipFill>
        <p:spPr>
          <a:xfrm>
            <a:off x="1751076" y="502920"/>
            <a:ext cx="5641848" cy="423138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729DC4D-7831-6E0B-63C3-1FA272A67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0"/>
            <a:ext cx="7315200" cy="1005840"/>
          </a:xfr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sz="4800" b="1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</a:rPr>
              <a:t>CHECKERS</a:t>
            </a:r>
          </a:p>
        </p:txBody>
      </p:sp>
    </p:spTree>
    <p:extLst>
      <p:ext uri="{BB962C8B-B14F-4D97-AF65-F5344CB8AC3E}">
        <p14:creationId xmlns:p14="http://schemas.microsoft.com/office/powerpoint/2010/main" val="2897479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649224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</a:rPr>
              <a:t>Application Overview</a:t>
            </a:r>
          </a:p>
        </p:txBody>
      </p:sp>
      <p:pic>
        <p:nvPicPr>
          <p:cNvPr id="5" name="Slika 4" descr="Slika na kojoj se prikazuje ukrasni isječci, crtić, lopta, igra na ploči dame&#10;&#10;Sadržaj generiran uz AI možda nije točan.">
            <a:extLst>
              <a:ext uri="{FF2B5EF4-FFF2-40B4-BE49-F238E27FC236}">
                <a16:creationId xmlns:a16="http://schemas.microsoft.com/office/drawing/2014/main" id="{9F1B48D8-8D50-0B0E-8D67-293D0FA1B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7227" r="92578">
                        <a14:foregroundMark x1="8496" y1="37207" x2="8496" y2="37207"/>
                        <a14:foregroundMark x1="7227" y1="51953" x2="7227" y2="51953"/>
                        <a14:foregroundMark x1="80762" y1="30566" x2="80762" y2="30566"/>
                        <a14:foregroundMark x1="77246" y1="29883" x2="76367" y2="31738"/>
                        <a14:foregroundMark x1="77734" y1="26758" x2="77734" y2="26758"/>
                        <a14:foregroundMark x1="75098" y1="26758" x2="80176" y2="29297"/>
                        <a14:foregroundMark x1="49902" y1="16797" x2="43848" y2="21094"/>
                        <a14:foregroundMark x1="43848" y1="21094" x2="67871" y2="22266"/>
                        <a14:foregroundMark x1="40625" y1="21582" x2="40234" y2="30176"/>
                        <a14:foregroundMark x1="40234" y1="30176" x2="39063" y2="30566"/>
                        <a14:foregroundMark x1="47070" y1="25195" x2="47461" y2="25488"/>
                        <a14:foregroundMark x1="55957" y1="30176" x2="57031" y2="30762"/>
                        <a14:foregroundMark x1="62402" y1="34570" x2="62402" y2="34570"/>
                        <a14:foregroundMark x1="63965" y1="26172" x2="63965" y2="26172"/>
                        <a14:foregroundMark x1="62012" y1="17773" x2="62012" y2="17773"/>
                        <a14:foregroundMark x1="36523" y1="18262" x2="36523" y2="18262"/>
                        <a14:foregroundMark x1="28418" y1="23340" x2="28418" y2="23340"/>
                        <a14:foregroundMark x1="34961" y1="26367" x2="34961" y2="26367"/>
                        <a14:foregroundMark x1="22168" y1="22754" x2="22168" y2="22754"/>
                        <a14:foregroundMark x1="39063" y1="16016" x2="39063" y2="16016"/>
                        <a14:foregroundMark x1="61230" y1="15820" x2="61230" y2="15820"/>
                        <a14:foregroundMark x1="48926" y1="26367" x2="48926" y2="26367"/>
                        <a14:foregroundMark x1="37695" y1="18945" x2="37695" y2="18945"/>
                        <a14:foregroundMark x1="63184" y1="25781" x2="63184" y2="25781"/>
                        <a14:foregroundMark x1="78125" y1="48242" x2="78125" y2="48242"/>
                        <a14:foregroundMark x1="77246" y1="55176" x2="77246" y2="55176"/>
                        <a14:foregroundMark x1="69629" y1="54004" x2="69629" y2="54004"/>
                        <a14:foregroundMark x1="70410" y1="52246" x2="70410" y2="52246"/>
                        <a14:foregroundMark x1="43359" y1="51855" x2="43359" y2="51855"/>
                        <a14:foregroundMark x1="44531" y1="53027" x2="44531" y2="53027"/>
                        <a14:foregroundMark x1="43066" y1="54297" x2="43066" y2="54297"/>
                        <a14:foregroundMark x1="36914" y1="53418" x2="36914" y2="53418"/>
                        <a14:foregroundMark x1="32910" y1="53027" x2="32910" y2="53027"/>
                        <a14:foregroundMark x1="30176" y1="53027" x2="32520" y2="56641"/>
                        <a14:foregroundMark x1="27246" y1="54102" x2="27246" y2="54102"/>
                        <a14:foregroundMark x1="19629" y1="56250" x2="19629" y2="56250"/>
                        <a14:foregroundMark x1="15234" y1="55566" x2="15234" y2="55566"/>
                        <a14:foregroundMark x1="16504" y1="56152" x2="16504" y2="56152"/>
                        <a14:foregroundMark x1="43066" y1="79492" x2="48242" y2="80566"/>
                        <a14:foregroundMark x1="66309" y1="70020" x2="59277" y2="70996"/>
                        <a14:foregroundMark x1="59277" y1="70996" x2="59082" y2="70898"/>
                        <a14:foregroundMark x1="91309" y1="37500" x2="91309" y2="37500"/>
                        <a14:foregroundMark x1="92578" y1="53320" x2="92578" y2="53320"/>
                      </a14:backgroundRemoval>
                    </a14:imgEffect>
                  </a14:imgLayer>
                </a14:imgProps>
              </a:ext>
            </a:extLst>
          </a:blip>
          <a:srcRect t="7742" b="17258"/>
          <a:stretch>
            <a:fillRect/>
          </a:stretch>
        </p:blipFill>
        <p:spPr>
          <a:xfrm>
            <a:off x="7406640" y="621792"/>
            <a:ext cx="822960" cy="617218"/>
          </a:xfrm>
          <a:prstGeom prst="rect">
            <a:avLst/>
          </a:prstGeom>
        </p:spPr>
      </p:pic>
      <p:sp>
        <p:nvSpPr>
          <p:cNvPr id="6" name="Card 1"/>
          <p:cNvSpPr/>
          <p:nvPr/>
        </p:nvSpPr>
        <p:spPr>
          <a:xfrm>
            <a:off x="914400" y="1645920"/>
            <a:ext cx="7315200" cy="123444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ard 1 text"/>
          <p:cNvSpPr txBox="1"/>
          <p:nvPr/>
        </p:nvSpPr>
        <p:spPr>
          <a:xfrm>
            <a:off x="1097280" y="1719072"/>
            <a:ext cx="6949440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</a:rPr>
              <a:t>The Checkers application is a desktop program that implements the game of checkers.</a:t>
            </a:r>
            <a:r>
              <a:rPr sz="1500" b="0">
                <a:solidFill>
                  <a:srgbClr val="3B3B36"/>
                </a:solidFill>
              </a:rPr>
              <a:t> It is developed using C++ and the NetID GUI framework.</a:t>
            </a:r>
          </a:p>
        </p:txBody>
      </p:sp>
      <p:sp>
        <p:nvSpPr>
          <p:cNvPr id="8" name="Card 2"/>
          <p:cNvSpPr/>
          <p:nvPr/>
        </p:nvSpPr>
        <p:spPr>
          <a:xfrm>
            <a:off x="914400" y="3017520"/>
            <a:ext cx="7315200" cy="123444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ard 2 text"/>
          <p:cNvSpPr txBox="1"/>
          <p:nvPr/>
        </p:nvSpPr>
        <p:spPr>
          <a:xfrm>
            <a:off x="1097280" y="3090672"/>
            <a:ext cx="6949440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</a:rPr>
              <a:t>The game follows official checkers rules and is played on an 8x8 board.</a:t>
            </a:r>
            <a:r>
              <a:rPr sz="1500" b="0">
                <a:solidFill>
                  <a:srgbClr val="3B3B36"/>
                </a:solidFill>
              </a:rPr>
              <a:t> The application separates the game engine, graphics, and controls.</a:t>
            </a:r>
          </a:p>
        </p:txBody>
      </p:sp>
      <p:sp>
        <p:nvSpPr>
          <p:cNvPr id="10" name="Card 3"/>
          <p:cNvSpPr/>
          <p:nvPr/>
        </p:nvSpPr>
        <p:spPr>
          <a:xfrm>
            <a:off x="914400" y="4389120"/>
            <a:ext cx="7315200" cy="123444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ard 3 text"/>
          <p:cNvSpPr txBox="1"/>
          <p:nvPr/>
        </p:nvSpPr>
        <p:spPr>
          <a:xfrm>
            <a:off x="1097280" y="4462272"/>
            <a:ext cx="6949440" cy="1088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3B3B36"/>
                </a:solidFill>
              </a:rPr>
              <a:t>This modular structure makes the program maintainable, scalable, and easier to manage.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6492240" cy="914400"/>
          </a:xfrm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</a:rPr>
              <a:t>Movement and Capture Mechanics</a:t>
            </a:r>
            <a:endParaRPr lang="hr-HR" sz="2400" b="1" dirty="0">
              <a:solidFill>
                <a:srgbClr val="FE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Slika 4" descr="Slika na kojoj se prikazuje ukrasni isječci, crtić, lopta, igra na ploči dame&#10;&#10;Sadržaj generiran uz AI možda nije točan.">
            <a:extLst>
              <a:ext uri="{FF2B5EF4-FFF2-40B4-BE49-F238E27FC236}">
                <a16:creationId xmlns:a16="http://schemas.microsoft.com/office/drawing/2014/main" id="{9F1B48D8-8D50-0B0E-8D67-293D0FA1B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7227" r="92578">
                        <a14:foregroundMark x1="8496" y1="37207" x2="8496" y2="37207"/>
                        <a14:foregroundMark x1="7227" y1="51953" x2="7227" y2="51953"/>
                        <a14:foregroundMark x1="80762" y1="30566" x2="80762" y2="30566"/>
                        <a14:foregroundMark x1="77246" y1="29883" x2="76367" y2="31738"/>
                        <a14:foregroundMark x1="77734" y1="26758" x2="77734" y2="26758"/>
                        <a14:foregroundMark x1="75098" y1="26758" x2="80176" y2="29297"/>
                        <a14:foregroundMark x1="49902" y1="16797" x2="43848" y2="21094"/>
                        <a14:foregroundMark x1="43848" y1="21094" x2="67871" y2="22266"/>
                        <a14:foregroundMark x1="40625" y1="21582" x2="40234" y2="30176"/>
                        <a14:foregroundMark x1="40234" y1="30176" x2="39063" y2="30566"/>
                        <a14:foregroundMark x1="47070" y1="25195" x2="47461" y2="25488"/>
                        <a14:foregroundMark x1="55957" y1="30176" x2="57031" y2="30762"/>
                        <a14:foregroundMark x1="62402" y1="34570" x2="62402" y2="34570"/>
                        <a14:foregroundMark x1="63965" y1="26172" x2="63965" y2="26172"/>
                        <a14:foregroundMark x1="62012" y1="17773" x2="62012" y2="17773"/>
                        <a14:foregroundMark x1="36523" y1="18262" x2="36523" y2="18262"/>
                        <a14:foregroundMark x1="28418" y1="23340" x2="28418" y2="23340"/>
                        <a14:foregroundMark x1="34961" y1="26367" x2="34961" y2="26367"/>
                        <a14:foregroundMark x1="22168" y1="22754" x2="22168" y2="22754"/>
                        <a14:foregroundMark x1="39063" y1="16016" x2="39063" y2="16016"/>
                        <a14:foregroundMark x1="61230" y1="15820" x2="61230" y2="15820"/>
                        <a14:foregroundMark x1="48926" y1="26367" x2="48926" y2="26367"/>
                        <a14:foregroundMark x1="37695" y1="18945" x2="37695" y2="18945"/>
                        <a14:foregroundMark x1="63184" y1="25781" x2="63184" y2="25781"/>
                        <a14:foregroundMark x1="78125" y1="48242" x2="78125" y2="48242"/>
                        <a14:foregroundMark x1="77246" y1="55176" x2="77246" y2="55176"/>
                        <a14:foregroundMark x1="69629" y1="54004" x2="69629" y2="54004"/>
                        <a14:foregroundMark x1="70410" y1="52246" x2="70410" y2="52246"/>
                        <a14:foregroundMark x1="43359" y1="51855" x2="43359" y2="51855"/>
                        <a14:foregroundMark x1="44531" y1="53027" x2="44531" y2="53027"/>
                        <a14:foregroundMark x1="43066" y1="54297" x2="43066" y2="54297"/>
                        <a14:foregroundMark x1="36914" y1="53418" x2="36914" y2="53418"/>
                        <a14:foregroundMark x1="32910" y1="53027" x2="32910" y2="53027"/>
                        <a14:foregroundMark x1="30176" y1="53027" x2="32520" y2="56641"/>
                        <a14:foregroundMark x1="27246" y1="54102" x2="27246" y2="54102"/>
                        <a14:foregroundMark x1="19629" y1="56250" x2="19629" y2="56250"/>
                        <a14:foregroundMark x1="15234" y1="55566" x2="15234" y2="55566"/>
                        <a14:foregroundMark x1="16504" y1="56152" x2="16504" y2="56152"/>
                        <a14:foregroundMark x1="43066" y1="79492" x2="48242" y2="80566"/>
                        <a14:foregroundMark x1="66309" y1="70020" x2="59277" y2="70996"/>
                        <a14:foregroundMark x1="59277" y1="70996" x2="59082" y2="70898"/>
                        <a14:foregroundMark x1="91309" y1="37500" x2="91309" y2="37500"/>
                        <a14:foregroundMark x1="92578" y1="53320" x2="92578" y2="53320"/>
                      </a14:backgroundRemoval>
                    </a14:imgEffect>
                  </a14:imgLayer>
                </a14:imgProps>
              </a:ext>
            </a:extLst>
          </a:blip>
          <a:srcRect t="7742" b="17258"/>
          <a:stretch>
            <a:fillRect/>
          </a:stretch>
        </p:blipFill>
        <p:spPr>
          <a:xfrm>
            <a:off x="7406640" y="621792"/>
            <a:ext cx="822960" cy="617218"/>
          </a:xfrm>
          <a:prstGeom prst="rect">
            <a:avLst/>
          </a:prstGeom>
        </p:spPr>
      </p:pic>
      <p:sp>
        <p:nvSpPr>
          <p:cNvPr id="6" name="Card 1"/>
          <p:cNvSpPr/>
          <p:nvPr/>
        </p:nvSpPr>
        <p:spPr>
          <a:xfrm>
            <a:off x="914400" y="1645920"/>
            <a:ext cx="4297680" cy="228600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ard 1 text"/>
          <p:cNvSpPr txBox="1"/>
          <p:nvPr/>
        </p:nvSpPr>
        <p:spPr>
          <a:xfrm>
            <a:off x="1097280" y="1719072"/>
            <a:ext cx="3931920" cy="21396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Piece movement follows official checkers rules with enforced diagonal motion.</a:t>
            </a:r>
            <a:r>
              <a:rPr sz="1400" b="0">
                <a:solidFill>
                  <a:srgbClr val="3B3B36"/>
                </a:solidFill>
              </a:rPr>
              <a:t> The engine validates all legal moves before execution. Mandatory captures are implemented, and recursive search enables multi‑jump capture sequences.</a:t>
            </a:r>
          </a:p>
        </p:txBody>
      </p:sp>
      <p:sp>
        <p:nvSpPr>
          <p:cNvPr id="8" name="Card 2"/>
          <p:cNvSpPr/>
          <p:nvPr/>
        </p:nvSpPr>
        <p:spPr>
          <a:xfrm>
            <a:off x="914400" y="4069080"/>
            <a:ext cx="4297680" cy="160020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ard 2 text"/>
          <p:cNvSpPr txBox="1"/>
          <p:nvPr/>
        </p:nvSpPr>
        <p:spPr>
          <a:xfrm>
            <a:off x="1097280" y="4142232"/>
            <a:ext cx="3931920" cy="1453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3B3B36"/>
                </a:solidFill>
              </a:rPr>
              <a:t>Captured pieces are removed during animated transitions to synchronize logic and visuals.</a:t>
            </a:r>
          </a:p>
        </p:txBody>
      </p:sp>
      <p:pic>
        <p:nvPicPr>
          <p:cNvPr id="10" name="Picture 9" descr="Selected red piece with two highlighted target squa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45920"/>
            <a:ext cx="2651760" cy="1778000"/>
          </a:xfrm>
          <a:prstGeom prst="rect">
            <a:avLst/>
          </a:prstGeom>
          <a:effectLst>
            <a:outerShdw blurRad="88900" dist="38100" dir="5400000" algn="t" rotWithShape="0">
              <a:srgbClr val="000000">
                <a:alpha val="28000"/>
              </a:srgbClr>
            </a:outerShdw>
          </a:effectLst>
        </p:spPr>
      </p:pic>
      <p:pic>
        <p:nvPicPr>
          <p:cNvPr id="11" name="Picture 10" descr="Selected red piece with a highlighted landing square after a jum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749039"/>
            <a:ext cx="2651760" cy="1943100"/>
          </a:xfrm>
          <a:prstGeom prst="rect">
            <a:avLst/>
          </a:prstGeom>
          <a:effectLst>
            <a:outerShdw blurRad="88900" dist="38100" dir="5400000" algn="t" rotWithShape="0">
              <a:srgbClr val="000000">
                <a:alpha val="28000"/>
              </a:srgb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1955CDF-135A-3993-9D98-AF76013E4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457200"/>
            <a:ext cx="649224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</a:rPr>
              <a:t>Artificial Intelligence System</a:t>
            </a:r>
          </a:p>
        </p:txBody>
      </p:sp>
      <p:pic>
        <p:nvPicPr>
          <p:cNvPr id="5" name="Slika 4" descr="Slika na kojoj se prikazuje ukrasni isječci, crtić, lopta, igra na ploči dame&#10;&#10;Sadržaj generiran uz AI možda nije točan.">
            <a:extLst>
              <a:ext uri="{FF2B5EF4-FFF2-40B4-BE49-F238E27FC236}">
                <a16:creationId xmlns:a16="http://schemas.microsoft.com/office/drawing/2014/main" id="{9F1B48D8-8D50-0B0E-8D67-293D0FA1B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7227" r="92578">
                        <a14:foregroundMark x1="8496" y1="37207" x2="8496" y2="37207"/>
                        <a14:foregroundMark x1="7227" y1="51953" x2="7227" y2="51953"/>
                        <a14:foregroundMark x1="80762" y1="30566" x2="80762" y2="30566"/>
                        <a14:foregroundMark x1="77246" y1="29883" x2="76367" y2="31738"/>
                        <a14:foregroundMark x1="77734" y1="26758" x2="77734" y2="26758"/>
                        <a14:foregroundMark x1="75098" y1="26758" x2="80176" y2="29297"/>
                        <a14:foregroundMark x1="49902" y1="16797" x2="43848" y2="21094"/>
                        <a14:foregroundMark x1="43848" y1="21094" x2="67871" y2="22266"/>
                        <a14:foregroundMark x1="40625" y1="21582" x2="40234" y2="30176"/>
                        <a14:foregroundMark x1="40234" y1="30176" x2="39063" y2="30566"/>
                        <a14:foregroundMark x1="47070" y1="25195" x2="47461" y2="25488"/>
                        <a14:foregroundMark x1="55957" y1="30176" x2="57031" y2="30762"/>
                        <a14:foregroundMark x1="62402" y1="34570" x2="62402" y2="34570"/>
                        <a14:foregroundMark x1="63965" y1="26172" x2="63965" y2="26172"/>
                        <a14:foregroundMark x1="62012" y1="17773" x2="62012" y2="17773"/>
                        <a14:foregroundMark x1="36523" y1="18262" x2="36523" y2="18262"/>
                        <a14:foregroundMark x1="28418" y1="23340" x2="28418" y2="23340"/>
                        <a14:foregroundMark x1="34961" y1="26367" x2="34961" y2="26367"/>
                        <a14:foregroundMark x1="22168" y1="22754" x2="22168" y2="22754"/>
                        <a14:foregroundMark x1="39063" y1="16016" x2="39063" y2="16016"/>
                        <a14:foregroundMark x1="61230" y1="15820" x2="61230" y2="15820"/>
                        <a14:foregroundMark x1="48926" y1="26367" x2="48926" y2="26367"/>
                        <a14:foregroundMark x1="37695" y1="18945" x2="37695" y2="18945"/>
                        <a14:foregroundMark x1="63184" y1="25781" x2="63184" y2="25781"/>
                        <a14:foregroundMark x1="78125" y1="48242" x2="78125" y2="48242"/>
                        <a14:foregroundMark x1="77246" y1="55176" x2="77246" y2="55176"/>
                        <a14:foregroundMark x1="69629" y1="54004" x2="69629" y2="54004"/>
                        <a14:foregroundMark x1="70410" y1="52246" x2="70410" y2="52246"/>
                        <a14:foregroundMark x1="43359" y1="51855" x2="43359" y2="51855"/>
                        <a14:foregroundMark x1="44531" y1="53027" x2="44531" y2="53027"/>
                        <a14:foregroundMark x1="43066" y1="54297" x2="43066" y2="54297"/>
                        <a14:foregroundMark x1="36914" y1="53418" x2="36914" y2="53418"/>
                        <a14:foregroundMark x1="32910" y1="53027" x2="32910" y2="53027"/>
                        <a14:foregroundMark x1="30176" y1="53027" x2="32520" y2="56641"/>
                        <a14:foregroundMark x1="27246" y1="54102" x2="27246" y2="54102"/>
                        <a14:foregroundMark x1="19629" y1="56250" x2="19629" y2="56250"/>
                        <a14:foregroundMark x1="15234" y1="55566" x2="15234" y2="55566"/>
                        <a14:foregroundMark x1="16504" y1="56152" x2="16504" y2="56152"/>
                        <a14:foregroundMark x1="43066" y1="79492" x2="48242" y2="80566"/>
                        <a14:foregroundMark x1="66309" y1="70020" x2="59277" y2="70996"/>
                        <a14:foregroundMark x1="59277" y1="70996" x2="59082" y2="70898"/>
                        <a14:foregroundMark x1="91309" y1="37500" x2="91309" y2="37500"/>
                        <a14:foregroundMark x1="92578" y1="53320" x2="92578" y2="53320"/>
                      </a14:backgroundRemoval>
                    </a14:imgEffect>
                  </a14:imgLayer>
                </a14:imgProps>
              </a:ext>
            </a:extLst>
          </a:blip>
          <a:srcRect t="7742" b="17258"/>
          <a:stretch>
            <a:fillRect/>
          </a:stretch>
        </p:blipFill>
        <p:spPr>
          <a:xfrm>
            <a:off x="7406640" y="621792"/>
            <a:ext cx="822960" cy="617218"/>
          </a:xfrm>
          <a:prstGeom prst="rect">
            <a:avLst/>
          </a:prstGeom>
        </p:spPr>
      </p:pic>
      <p:sp>
        <p:nvSpPr>
          <p:cNvPr id="6" name="Card 1"/>
          <p:cNvSpPr/>
          <p:nvPr/>
        </p:nvSpPr>
        <p:spPr>
          <a:xfrm>
            <a:off x="914400" y="1645920"/>
            <a:ext cx="7315200" cy="118872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ard 1 text"/>
          <p:cNvSpPr txBox="1"/>
          <p:nvPr/>
        </p:nvSpPr>
        <p:spPr>
          <a:xfrm>
            <a:off x="1097280" y="1719072"/>
            <a:ext cx="6949440" cy="1042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The AI opponent uses the Minimax algorithm with Alpha-Beta pruning to decide its moves.</a:t>
            </a:r>
            <a:r>
              <a:rPr sz="1400" b="0">
                <a:solidFill>
                  <a:srgbClr val="3B3B36"/>
                </a:solidFill>
              </a:rPr>
              <a:t> It simulates possible future moves and evaluates board states to choose the most optimal action.</a:t>
            </a:r>
          </a:p>
        </p:txBody>
      </p:sp>
      <p:sp>
        <p:nvSpPr>
          <p:cNvPr id="8" name="Card 2"/>
          <p:cNvSpPr/>
          <p:nvPr/>
        </p:nvSpPr>
        <p:spPr>
          <a:xfrm>
            <a:off x="914400" y="2971800"/>
            <a:ext cx="7315200" cy="169164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ard 2 text"/>
          <p:cNvSpPr txBox="1"/>
          <p:nvPr/>
        </p:nvSpPr>
        <p:spPr>
          <a:xfrm>
            <a:off x="1097280" y="3044952"/>
            <a:ext cx="6949440" cy="1545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The algorithm assumes the opponent also plays optimally, so it maximizes its own advantage while minimizing the opponent’s gain.</a:t>
            </a:r>
            <a:r>
              <a:rPr sz="1400" b="0">
                <a:solidFill>
                  <a:srgbClr val="3B3B36"/>
                </a:solidFill>
              </a:rPr>
              <a:t> Board positions are evaluated using a heuristic function. The heuristic considers factors such as the number of pieces, the higher value of king pieces, piece mobility, and positional advantages.</a:t>
            </a:r>
          </a:p>
        </p:txBody>
      </p:sp>
      <p:sp>
        <p:nvSpPr>
          <p:cNvPr id="10" name="Card 3"/>
          <p:cNvSpPr/>
          <p:nvPr/>
        </p:nvSpPr>
        <p:spPr>
          <a:xfrm>
            <a:off x="914400" y="4800600"/>
            <a:ext cx="7315200" cy="118872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ard 3 text"/>
          <p:cNvSpPr txBox="1"/>
          <p:nvPr/>
        </p:nvSpPr>
        <p:spPr>
          <a:xfrm>
            <a:off x="1097280" y="4873752"/>
            <a:ext cx="6949440" cy="1042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Alpha-Beta pruning increases efficiency by cutting off branches that do not affect the final decision.</a:t>
            </a:r>
            <a:r>
              <a:rPr sz="1400" b="0">
                <a:solidFill>
                  <a:srgbClr val="3B3B36"/>
                </a:solidFill>
              </a:rPr>
              <a:t> This reduces unnecessary computations while maintaining strong decision quality.</a:t>
            </a:r>
          </a:p>
        </p:txBody>
      </p:sp>
    </p:spTree>
    <p:extLst>
      <p:ext uri="{BB962C8B-B14F-4D97-AF65-F5344CB8AC3E}">
        <p14:creationId xmlns:p14="http://schemas.microsoft.com/office/powerpoint/2010/main" val="3077226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649224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</a:rPr>
              <a:t>Game Board and Rendering</a:t>
            </a:r>
            <a:endParaRPr lang="hr-H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Slika 4" descr="Slika na kojoj se prikazuje ukrasni isječci, crtić, lopta, igra na ploči dame&#10;&#10;Sadržaj generiran uz AI možda nije točan.">
            <a:extLst>
              <a:ext uri="{FF2B5EF4-FFF2-40B4-BE49-F238E27FC236}">
                <a16:creationId xmlns:a16="http://schemas.microsoft.com/office/drawing/2014/main" id="{9F1B48D8-8D50-0B0E-8D67-293D0FA1B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7227" r="92578">
                        <a14:foregroundMark x1="8496" y1="37207" x2="8496" y2="37207"/>
                        <a14:foregroundMark x1="7227" y1="51953" x2="7227" y2="51953"/>
                        <a14:foregroundMark x1="80762" y1="30566" x2="80762" y2="30566"/>
                        <a14:foregroundMark x1="77246" y1="29883" x2="76367" y2="31738"/>
                        <a14:foregroundMark x1="77734" y1="26758" x2="77734" y2="26758"/>
                        <a14:foregroundMark x1="75098" y1="26758" x2="80176" y2="29297"/>
                        <a14:foregroundMark x1="49902" y1="16797" x2="43848" y2="21094"/>
                        <a14:foregroundMark x1="43848" y1="21094" x2="67871" y2="22266"/>
                        <a14:foregroundMark x1="40625" y1="21582" x2="40234" y2="30176"/>
                        <a14:foregroundMark x1="40234" y1="30176" x2="39063" y2="30566"/>
                        <a14:foregroundMark x1="47070" y1="25195" x2="47461" y2="25488"/>
                        <a14:foregroundMark x1="55957" y1="30176" x2="57031" y2="30762"/>
                        <a14:foregroundMark x1="62402" y1="34570" x2="62402" y2="34570"/>
                        <a14:foregroundMark x1="63965" y1="26172" x2="63965" y2="26172"/>
                        <a14:foregroundMark x1="62012" y1="17773" x2="62012" y2="17773"/>
                        <a14:foregroundMark x1="36523" y1="18262" x2="36523" y2="18262"/>
                        <a14:foregroundMark x1="28418" y1="23340" x2="28418" y2="23340"/>
                        <a14:foregroundMark x1="34961" y1="26367" x2="34961" y2="26367"/>
                        <a14:foregroundMark x1="22168" y1="22754" x2="22168" y2="22754"/>
                        <a14:foregroundMark x1="39063" y1="16016" x2="39063" y2="16016"/>
                        <a14:foregroundMark x1="61230" y1="15820" x2="61230" y2="15820"/>
                        <a14:foregroundMark x1="48926" y1="26367" x2="48926" y2="26367"/>
                        <a14:foregroundMark x1="37695" y1="18945" x2="37695" y2="18945"/>
                        <a14:foregroundMark x1="63184" y1="25781" x2="63184" y2="25781"/>
                        <a14:foregroundMark x1="78125" y1="48242" x2="78125" y2="48242"/>
                        <a14:foregroundMark x1="77246" y1="55176" x2="77246" y2="55176"/>
                        <a14:foregroundMark x1="69629" y1="54004" x2="69629" y2="54004"/>
                        <a14:foregroundMark x1="70410" y1="52246" x2="70410" y2="52246"/>
                        <a14:foregroundMark x1="43359" y1="51855" x2="43359" y2="51855"/>
                        <a14:foregroundMark x1="44531" y1="53027" x2="44531" y2="53027"/>
                        <a14:foregroundMark x1="43066" y1="54297" x2="43066" y2="54297"/>
                        <a14:foregroundMark x1="36914" y1="53418" x2="36914" y2="53418"/>
                        <a14:foregroundMark x1="32910" y1="53027" x2="32910" y2="53027"/>
                        <a14:foregroundMark x1="30176" y1="53027" x2="32520" y2="56641"/>
                        <a14:foregroundMark x1="27246" y1="54102" x2="27246" y2="54102"/>
                        <a14:foregroundMark x1="19629" y1="56250" x2="19629" y2="56250"/>
                        <a14:foregroundMark x1="15234" y1="55566" x2="15234" y2="55566"/>
                        <a14:foregroundMark x1="16504" y1="56152" x2="16504" y2="56152"/>
                        <a14:foregroundMark x1="43066" y1="79492" x2="48242" y2="80566"/>
                        <a14:foregroundMark x1="66309" y1="70020" x2="59277" y2="70996"/>
                        <a14:foregroundMark x1="59277" y1="70996" x2="59082" y2="70898"/>
                        <a14:foregroundMark x1="91309" y1="37500" x2="91309" y2="37500"/>
                        <a14:foregroundMark x1="92578" y1="53320" x2="92578" y2="53320"/>
                      </a14:backgroundRemoval>
                    </a14:imgEffect>
                  </a14:imgLayer>
                </a14:imgProps>
              </a:ext>
            </a:extLst>
          </a:blip>
          <a:srcRect t="7742" b="17258"/>
          <a:stretch>
            <a:fillRect/>
          </a:stretch>
        </p:blipFill>
        <p:spPr>
          <a:xfrm>
            <a:off x="7406640" y="621792"/>
            <a:ext cx="822960" cy="617218"/>
          </a:xfrm>
          <a:prstGeom prst="rect">
            <a:avLst/>
          </a:prstGeom>
        </p:spPr>
      </p:pic>
      <p:sp>
        <p:nvSpPr>
          <p:cNvPr id="6" name="Card 1"/>
          <p:cNvSpPr/>
          <p:nvPr/>
        </p:nvSpPr>
        <p:spPr>
          <a:xfrm>
            <a:off x="914400" y="1645920"/>
            <a:ext cx="4206240" cy="182880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ard 1 text"/>
          <p:cNvSpPr txBox="1"/>
          <p:nvPr/>
        </p:nvSpPr>
        <p:spPr>
          <a:xfrm>
            <a:off x="1097280" y="1719072"/>
            <a:ext cx="3840479" cy="1682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The board is rendered dynamically using the GUI Canvas system.</a:t>
            </a:r>
            <a:r>
              <a:rPr sz="1400" b="0">
                <a:solidFill>
                  <a:srgbClr val="3B3B36"/>
                </a:solidFill>
              </a:rPr>
              <a:t> It automatically scales with window resizing while maintaining correct proportions.</a:t>
            </a:r>
          </a:p>
        </p:txBody>
      </p:sp>
      <p:sp>
        <p:nvSpPr>
          <p:cNvPr id="8" name="Card 2"/>
          <p:cNvSpPr/>
          <p:nvPr/>
        </p:nvSpPr>
        <p:spPr>
          <a:xfrm>
            <a:off x="914400" y="3611880"/>
            <a:ext cx="4206240" cy="219456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ard 2 text"/>
          <p:cNvSpPr txBox="1"/>
          <p:nvPr/>
        </p:nvSpPr>
        <p:spPr>
          <a:xfrm>
            <a:off x="1097280" y="3685032"/>
            <a:ext cx="3840479" cy="2048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Sprites are used for pieces, highlights, and overlays, allowing visual feedback for selected pieces and legal moves.</a:t>
            </a:r>
            <a:r>
              <a:rPr sz="1400" b="0">
                <a:solidFill>
                  <a:srgbClr val="3B3B36"/>
                </a:solidFill>
              </a:rPr>
              <a:t> The rendering loop continuously updates animations and board states.</a:t>
            </a:r>
          </a:p>
        </p:txBody>
      </p:sp>
      <p:pic>
        <p:nvPicPr>
          <p:cNvPr id="10" name="Picture 9" descr="Checkers board with piec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011680"/>
            <a:ext cx="2926080" cy="2921882"/>
          </a:xfrm>
          <a:prstGeom prst="rect">
            <a:avLst/>
          </a:prstGeom>
          <a:effectLst>
            <a:outerShdw blurRad="88900" dist="38100" dir="5400000" algn="t" rotWithShape="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649224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</a:rPr>
              <a:t>Game End Detection and Dialogs</a:t>
            </a:r>
          </a:p>
        </p:txBody>
      </p:sp>
      <p:pic>
        <p:nvPicPr>
          <p:cNvPr id="5" name="Slika 4" descr="Slika na kojoj se prikazuje ukrasni isječci, crtić, lopta, igra na ploči dame&#10;&#10;Sadržaj generiran uz AI možda nije točan.">
            <a:extLst>
              <a:ext uri="{FF2B5EF4-FFF2-40B4-BE49-F238E27FC236}">
                <a16:creationId xmlns:a16="http://schemas.microsoft.com/office/drawing/2014/main" id="{9F1B48D8-8D50-0B0E-8D67-293D0FA1B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7227" r="92578">
                        <a14:foregroundMark x1="8496" y1="37207" x2="8496" y2="37207"/>
                        <a14:foregroundMark x1="7227" y1="51953" x2="7227" y2="51953"/>
                        <a14:foregroundMark x1="80762" y1="30566" x2="80762" y2="30566"/>
                        <a14:foregroundMark x1="77246" y1="29883" x2="76367" y2="31738"/>
                        <a14:foregroundMark x1="77734" y1="26758" x2="77734" y2="26758"/>
                        <a14:foregroundMark x1="75098" y1="26758" x2="80176" y2="29297"/>
                        <a14:foregroundMark x1="49902" y1="16797" x2="43848" y2="21094"/>
                        <a14:foregroundMark x1="43848" y1="21094" x2="67871" y2="22266"/>
                        <a14:foregroundMark x1="40625" y1="21582" x2="40234" y2="30176"/>
                        <a14:foregroundMark x1="40234" y1="30176" x2="39063" y2="30566"/>
                        <a14:foregroundMark x1="47070" y1="25195" x2="47461" y2="25488"/>
                        <a14:foregroundMark x1="55957" y1="30176" x2="57031" y2="30762"/>
                        <a14:foregroundMark x1="62402" y1="34570" x2="62402" y2="34570"/>
                        <a14:foregroundMark x1="63965" y1="26172" x2="63965" y2="26172"/>
                        <a14:foregroundMark x1="62012" y1="17773" x2="62012" y2="17773"/>
                        <a14:foregroundMark x1="36523" y1="18262" x2="36523" y2="18262"/>
                        <a14:foregroundMark x1="28418" y1="23340" x2="28418" y2="23340"/>
                        <a14:foregroundMark x1="34961" y1="26367" x2="34961" y2="26367"/>
                        <a14:foregroundMark x1="22168" y1="22754" x2="22168" y2="22754"/>
                        <a14:foregroundMark x1="39063" y1="16016" x2="39063" y2="16016"/>
                        <a14:foregroundMark x1="61230" y1="15820" x2="61230" y2="15820"/>
                        <a14:foregroundMark x1="48926" y1="26367" x2="48926" y2="26367"/>
                        <a14:foregroundMark x1="37695" y1="18945" x2="37695" y2="18945"/>
                        <a14:foregroundMark x1="63184" y1="25781" x2="63184" y2="25781"/>
                        <a14:foregroundMark x1="78125" y1="48242" x2="78125" y2="48242"/>
                        <a14:foregroundMark x1="77246" y1="55176" x2="77246" y2="55176"/>
                        <a14:foregroundMark x1="69629" y1="54004" x2="69629" y2="54004"/>
                        <a14:foregroundMark x1="70410" y1="52246" x2="70410" y2="52246"/>
                        <a14:foregroundMark x1="43359" y1="51855" x2="43359" y2="51855"/>
                        <a14:foregroundMark x1="44531" y1="53027" x2="44531" y2="53027"/>
                        <a14:foregroundMark x1="43066" y1="54297" x2="43066" y2="54297"/>
                        <a14:foregroundMark x1="36914" y1="53418" x2="36914" y2="53418"/>
                        <a14:foregroundMark x1="32910" y1="53027" x2="32910" y2="53027"/>
                        <a14:foregroundMark x1="30176" y1="53027" x2="32520" y2="56641"/>
                        <a14:foregroundMark x1="27246" y1="54102" x2="27246" y2="54102"/>
                        <a14:foregroundMark x1="19629" y1="56250" x2="19629" y2="56250"/>
                        <a14:foregroundMark x1="15234" y1="55566" x2="15234" y2="55566"/>
                        <a14:foregroundMark x1="16504" y1="56152" x2="16504" y2="56152"/>
                        <a14:foregroundMark x1="43066" y1="79492" x2="48242" y2="80566"/>
                        <a14:foregroundMark x1="66309" y1="70020" x2="59277" y2="70996"/>
                        <a14:foregroundMark x1="59277" y1="70996" x2="59082" y2="70898"/>
                        <a14:foregroundMark x1="91309" y1="37500" x2="91309" y2="37500"/>
                        <a14:foregroundMark x1="92578" y1="53320" x2="92578" y2="53320"/>
                      </a14:backgroundRemoval>
                    </a14:imgEffect>
                  </a14:imgLayer>
                </a14:imgProps>
              </a:ext>
            </a:extLst>
          </a:blip>
          <a:srcRect t="7742" b="17258"/>
          <a:stretch>
            <a:fillRect/>
          </a:stretch>
        </p:blipFill>
        <p:spPr>
          <a:xfrm>
            <a:off x="7406640" y="621792"/>
            <a:ext cx="822960" cy="617218"/>
          </a:xfrm>
          <a:prstGeom prst="rect">
            <a:avLst/>
          </a:prstGeom>
        </p:spPr>
      </p:pic>
      <p:sp>
        <p:nvSpPr>
          <p:cNvPr id="6" name="Card 1"/>
          <p:cNvSpPr/>
          <p:nvPr/>
        </p:nvSpPr>
        <p:spPr>
          <a:xfrm>
            <a:off x="914400" y="1645920"/>
            <a:ext cx="2331720" cy="214884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ard 1 text"/>
          <p:cNvSpPr txBox="1"/>
          <p:nvPr/>
        </p:nvSpPr>
        <p:spPr>
          <a:xfrm>
            <a:off x="1097280" y="1719072"/>
            <a:ext cx="1965960" cy="2002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</a:rPr>
              <a:t>The engine continuously monitors the game state in real time.</a:t>
            </a:r>
            <a:r>
              <a:rPr sz="1250" b="0">
                <a:solidFill>
                  <a:srgbClr val="3B3B36"/>
                </a:solidFill>
              </a:rPr>
              <a:t> It detects win, loss, and draw conditions automatically.</a:t>
            </a:r>
          </a:p>
        </p:txBody>
      </p:sp>
      <p:sp>
        <p:nvSpPr>
          <p:cNvPr id="8" name="Card 2"/>
          <p:cNvSpPr/>
          <p:nvPr/>
        </p:nvSpPr>
        <p:spPr>
          <a:xfrm>
            <a:off x="3406139" y="1645920"/>
            <a:ext cx="2331720" cy="214884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ard 2 text"/>
          <p:cNvSpPr txBox="1"/>
          <p:nvPr/>
        </p:nvSpPr>
        <p:spPr>
          <a:xfrm>
            <a:off x="3589020" y="1719072"/>
            <a:ext cx="1965960" cy="2002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</a:rPr>
              <a:t>A player loses when they have no legal moves remaining.</a:t>
            </a:r>
            <a:r>
              <a:rPr sz="1250" b="0">
                <a:solidFill>
                  <a:srgbClr val="3B3B36"/>
                </a:solidFill>
              </a:rPr>
              <a:t> Draws are determined using the no-capture move limit rule to prevent endless play.</a:t>
            </a:r>
          </a:p>
        </p:txBody>
      </p:sp>
      <p:sp>
        <p:nvSpPr>
          <p:cNvPr id="10" name="Card 3"/>
          <p:cNvSpPr/>
          <p:nvPr/>
        </p:nvSpPr>
        <p:spPr>
          <a:xfrm>
            <a:off x="5897879" y="1645920"/>
            <a:ext cx="2331720" cy="214884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ard 3 text"/>
          <p:cNvSpPr txBox="1"/>
          <p:nvPr/>
        </p:nvSpPr>
        <p:spPr>
          <a:xfrm>
            <a:off x="6080759" y="1719072"/>
            <a:ext cx="1965960" cy="2002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</a:rPr>
              <a:t>When the game ends, a dialog window displays the result.</a:t>
            </a:r>
            <a:r>
              <a:rPr sz="1250" b="0">
                <a:solidFill>
                  <a:srgbClr val="3B3B36"/>
                </a:solidFill>
              </a:rPr>
              <a:t> The dialog also offers options to restart the game or close the session.</a:t>
            </a:r>
          </a:p>
        </p:txBody>
      </p:sp>
      <p:pic>
        <p:nvPicPr>
          <p:cNvPr id="12" name="Picture 11" descr="Game-over dialog with Play again and Close butt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4114800"/>
            <a:ext cx="5120640" cy="1441489"/>
          </a:xfrm>
          <a:prstGeom prst="rect">
            <a:avLst/>
          </a:prstGeom>
          <a:effectLst>
            <a:outerShdw blurRad="88900" dist="38100" dir="5400000" algn="t" rotWithShape="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649224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</a:rPr>
              <a:t>User Interface and Settings</a:t>
            </a:r>
          </a:p>
        </p:txBody>
      </p:sp>
      <p:pic>
        <p:nvPicPr>
          <p:cNvPr id="5" name="Slika 4" descr="Slika na kojoj se prikazuje ukrasni isječci, crtić, lopta, igra na ploči dame&#10;&#10;Sadržaj generiran uz AI možda nije točan.">
            <a:extLst>
              <a:ext uri="{FF2B5EF4-FFF2-40B4-BE49-F238E27FC236}">
                <a16:creationId xmlns:a16="http://schemas.microsoft.com/office/drawing/2014/main" id="{9F1B48D8-8D50-0B0E-8D67-293D0FA1B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7227" r="92578">
                        <a14:foregroundMark x1="8496" y1="37207" x2="8496" y2="37207"/>
                        <a14:foregroundMark x1="7227" y1="51953" x2="7227" y2="51953"/>
                        <a14:foregroundMark x1="80762" y1="30566" x2="80762" y2="30566"/>
                        <a14:foregroundMark x1="77246" y1="29883" x2="76367" y2="31738"/>
                        <a14:foregroundMark x1="77734" y1="26758" x2="77734" y2="26758"/>
                        <a14:foregroundMark x1="75098" y1="26758" x2="80176" y2="29297"/>
                        <a14:foregroundMark x1="49902" y1="16797" x2="43848" y2="21094"/>
                        <a14:foregroundMark x1="43848" y1="21094" x2="67871" y2="22266"/>
                        <a14:foregroundMark x1="40625" y1="21582" x2="40234" y2="30176"/>
                        <a14:foregroundMark x1="40234" y1="30176" x2="39063" y2="30566"/>
                        <a14:foregroundMark x1="47070" y1="25195" x2="47461" y2="25488"/>
                        <a14:foregroundMark x1="55957" y1="30176" x2="57031" y2="30762"/>
                        <a14:foregroundMark x1="62402" y1="34570" x2="62402" y2="34570"/>
                        <a14:foregroundMark x1="63965" y1="26172" x2="63965" y2="26172"/>
                        <a14:foregroundMark x1="62012" y1="17773" x2="62012" y2="17773"/>
                        <a14:foregroundMark x1="36523" y1="18262" x2="36523" y2="18262"/>
                        <a14:foregroundMark x1="28418" y1="23340" x2="28418" y2="23340"/>
                        <a14:foregroundMark x1="34961" y1="26367" x2="34961" y2="26367"/>
                        <a14:foregroundMark x1="22168" y1="22754" x2="22168" y2="22754"/>
                        <a14:foregroundMark x1="39063" y1="16016" x2="39063" y2="16016"/>
                        <a14:foregroundMark x1="61230" y1="15820" x2="61230" y2="15820"/>
                        <a14:foregroundMark x1="48926" y1="26367" x2="48926" y2="26367"/>
                        <a14:foregroundMark x1="37695" y1="18945" x2="37695" y2="18945"/>
                        <a14:foregroundMark x1="63184" y1="25781" x2="63184" y2="25781"/>
                        <a14:foregroundMark x1="78125" y1="48242" x2="78125" y2="48242"/>
                        <a14:foregroundMark x1="77246" y1="55176" x2="77246" y2="55176"/>
                        <a14:foregroundMark x1="69629" y1="54004" x2="69629" y2="54004"/>
                        <a14:foregroundMark x1="70410" y1="52246" x2="70410" y2="52246"/>
                        <a14:foregroundMark x1="43359" y1="51855" x2="43359" y2="51855"/>
                        <a14:foregroundMark x1="44531" y1="53027" x2="44531" y2="53027"/>
                        <a14:foregroundMark x1="43066" y1="54297" x2="43066" y2="54297"/>
                        <a14:foregroundMark x1="36914" y1="53418" x2="36914" y2="53418"/>
                        <a14:foregroundMark x1="32910" y1="53027" x2="32910" y2="53027"/>
                        <a14:foregroundMark x1="30176" y1="53027" x2="32520" y2="56641"/>
                        <a14:foregroundMark x1="27246" y1="54102" x2="27246" y2="54102"/>
                        <a14:foregroundMark x1="19629" y1="56250" x2="19629" y2="56250"/>
                        <a14:foregroundMark x1="15234" y1="55566" x2="15234" y2="55566"/>
                        <a14:foregroundMark x1="16504" y1="56152" x2="16504" y2="56152"/>
                        <a14:foregroundMark x1="43066" y1="79492" x2="48242" y2="80566"/>
                        <a14:foregroundMark x1="66309" y1="70020" x2="59277" y2="70996"/>
                        <a14:foregroundMark x1="59277" y1="70996" x2="59082" y2="70898"/>
                        <a14:foregroundMark x1="91309" y1="37500" x2="91309" y2="37500"/>
                        <a14:foregroundMark x1="92578" y1="53320" x2="92578" y2="53320"/>
                      </a14:backgroundRemoval>
                    </a14:imgEffect>
                  </a14:imgLayer>
                </a14:imgProps>
              </a:ext>
            </a:extLst>
          </a:blip>
          <a:srcRect t="7742" b="17258"/>
          <a:stretch>
            <a:fillRect/>
          </a:stretch>
        </p:blipFill>
        <p:spPr>
          <a:xfrm>
            <a:off x="7406640" y="621792"/>
            <a:ext cx="822960" cy="617218"/>
          </a:xfrm>
          <a:prstGeom prst="rect">
            <a:avLst/>
          </a:prstGeom>
        </p:spPr>
      </p:pic>
      <p:sp>
        <p:nvSpPr>
          <p:cNvPr id="6" name="Card 1"/>
          <p:cNvSpPr/>
          <p:nvPr/>
        </p:nvSpPr>
        <p:spPr>
          <a:xfrm>
            <a:off x="914400" y="1645920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ard 1 text"/>
          <p:cNvSpPr txBox="1"/>
          <p:nvPr/>
        </p:nvSpPr>
        <p:spPr>
          <a:xfrm>
            <a:off x="1097280" y="1719072"/>
            <a:ext cx="3840479" cy="1865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The interface includes a menu bar, toolbar, and settings dialog.</a:t>
            </a:r>
            <a:r>
              <a:rPr sz="1400" b="0">
                <a:solidFill>
                  <a:srgbClr val="3B3B36"/>
                </a:solidFill>
              </a:rPr>
              <a:t> Players can start or reset matches, adjust toolbar display, and change language settings.</a:t>
            </a:r>
          </a:p>
        </p:txBody>
      </p:sp>
      <p:sp>
        <p:nvSpPr>
          <p:cNvPr id="8" name="Card 2"/>
          <p:cNvSpPr/>
          <p:nvPr/>
        </p:nvSpPr>
        <p:spPr>
          <a:xfrm>
            <a:off x="914400" y="3794760"/>
            <a:ext cx="4206240" cy="1920240"/>
          </a:xfrm>
          <a:prstGeom prst="roundRect">
            <a:avLst>
              <a:gd name="adj" fmla="val 8000"/>
            </a:avLst>
          </a:prstGeom>
          <a:solidFill>
            <a:srgbClr val="F5F6F2"/>
          </a:solidFill>
          <a:ln w="9525">
            <a:solidFill>
              <a:srgbClr val="E4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Card 2 text"/>
          <p:cNvSpPr txBox="1"/>
          <p:nvPr/>
        </p:nvSpPr>
        <p:spPr>
          <a:xfrm>
            <a:off x="1097280" y="3867912"/>
            <a:ext cx="3840479" cy="1773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3B3B36"/>
                </a:solidFill>
              </a:rPr>
              <a:t>Localization is handled through XML translation resources, and restart prompts ensure language changes apply correctly across the application.</a:t>
            </a:r>
          </a:p>
        </p:txBody>
      </p:sp>
      <p:pic>
        <p:nvPicPr>
          <p:cNvPr id="10" name="Picture 9" descr="Settings dialog with language selection and toolbar label checkbo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691640"/>
            <a:ext cx="2926080" cy="2204228"/>
          </a:xfrm>
          <a:prstGeom prst="rect">
            <a:avLst/>
          </a:prstGeom>
          <a:effectLst>
            <a:outerShdw blurRad="88900" dist="38100" dir="5400000" algn="t" rotWithShape="0">
              <a:srgbClr val="000000">
                <a:alpha val="28000"/>
              </a:srgbClr>
            </a:outerShdw>
          </a:effectLst>
        </p:spPr>
      </p:pic>
      <p:pic>
        <p:nvPicPr>
          <p:cNvPr id="11" name="Picture 10" descr="Toolbar with Settings, Reset and Start butt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4343400"/>
            <a:ext cx="2926080" cy="819302"/>
          </a:xfrm>
          <a:prstGeom prst="rect">
            <a:avLst/>
          </a:prstGeom>
          <a:effectLst>
            <a:outerShdw blurRad="88900" dist="38100" dir="5400000" algn="t" rotWithShape="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7B59-B4E8-1F52-5A06-9123E30B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7BBDDA9-0C25-C93F-959C-8FBF558B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0"/>
            <a:ext cx="7315200" cy="1005840"/>
          </a:xfr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sz="4800" b="1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</a:rPr>
              <a:t>THE END</a:t>
            </a:r>
          </a:p>
        </p:txBody>
      </p:sp>
      <p:pic>
        <p:nvPicPr>
          <p:cNvPr id="22" name="Slika 21" descr="Celebration artwork: the player and the robot with a trophy under a You Win banner">
            <a:extLst>
              <a:ext uri="{FF2B5EF4-FFF2-40B4-BE49-F238E27FC236}">
                <a16:creationId xmlns:a16="http://schemas.microsoft.com/office/drawing/2014/main" id="{FCDAF667-CD56-1D43-35F8-2A6DF49A2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74320"/>
            <a:ext cx="3566160" cy="535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88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102</TotalTime>
  <Words>429</Words>
  <Application>Microsoft Office PowerPoint</Application>
  <PresentationFormat>On-screen Show (4:3)</PresentationFormat>
  <Paragraphs>24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Wisp</vt:lpstr>
      <vt:lpstr>CHECKERS</vt:lpstr>
      <vt:lpstr>Application Overview</vt:lpstr>
      <vt:lpstr>Movement and Capture Mechanics</vt:lpstr>
      <vt:lpstr>Artificial Intelligence System</vt:lpstr>
      <vt:lpstr>Game Board and Rendering</vt:lpstr>
      <vt:lpstr>Game End Detection and Dialogs</vt:lpstr>
      <vt:lpstr>User Interface and Settings</vt:lpstr>
      <vt:lpstr>THE 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Overview</dc:title>
  <dc:subject/>
  <dc:creator>Elvir</dc:creator>
  <cp:keywords/>
  <dc:description>generated using python-pptx</dc:description>
  <cp:lastModifiedBy>admin admin</cp:lastModifiedBy>
  <cp:revision>7</cp:revision>
  <dcterms:created xsi:type="dcterms:W3CDTF">2013-01-27T09:14:16Z</dcterms:created>
  <dcterms:modified xsi:type="dcterms:W3CDTF">2026-09-18T18:43:44Z</dcterms:modified>
  <cp:category/>
</cp:coreProperties>
</file>