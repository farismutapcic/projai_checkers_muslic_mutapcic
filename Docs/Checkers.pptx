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64" r:id="rId2"/>
    <p:sldId id="256" r:id="rId3"/>
    <p:sldId id="258" r:id="rId4"/>
    <p:sldId id="263" r:id="rId5"/>
    <p:sldId id="257" r:id="rId6"/>
    <p:sldId id="260" r:id="rId7"/>
    <p:sldId id="261" r:id="rId8"/>
    <p:sldId id="265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EACF"/>
    <a:srgbClr val="E6EDD0"/>
    <a:srgbClr val="FBFCF7"/>
    <a:srgbClr val="766F54"/>
    <a:srgbClr val="3B37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71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234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429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90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265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855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7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191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773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61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100287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785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639195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8357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43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166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1628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 descr="Player vs AI checkers logo with a checkered board and red and black pieces">
            <a:extLst>
              <a:ext uri="{FF2B5EF4-FFF2-40B4-BE49-F238E27FC236}">
                <a16:creationId xmlns:a16="http://schemas.microsoft.com/office/drawing/2014/main" id="{AC4C164C-C655-B3B5-33B5-7563BE29EC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1751076" y="502920"/>
            <a:ext cx="5641848" cy="423138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729DC4D-7831-6E0B-63C3-1FA272A67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5120640"/>
            <a:ext cx="7315200" cy="1005840"/>
          </a:xfrm>
        </p:spPr>
        <p:txBody>
          <a:bodyPr vert="horz" lIns="91440" tIns="45720" rIns="91440" bIns="45720" rtlCol="0" anchor="ctr" wrap="square">
            <a:noAutofit/>
          </a:bodyPr>
          <a:lstStyle/>
          <a:p>
            <a:pPr algn="ctr"/>
            <a:r>
              <a:rPr sz="4800" b="1">
                <a:solidFill>
                  <a:srgbClr val="262626"/>
                </a:solidFill>
                <a:effectLst>
                  <a:outerShdw blurRad="38100" dist="38100" dir="2700000" algn="tl">
                    <a:srgbClr val="000000">
                      <a:alpha val="30000"/>
                    </a:srgbClr>
                  </a:outerShdw>
                </a:effectLst>
              </a:rPr>
              <a:t>CHECKERS</a:t>
            </a:r>
          </a:p>
        </p:txBody>
      </p:sp>
    </p:spTree>
    <p:extLst>
      <p:ext uri="{BB962C8B-B14F-4D97-AF65-F5344CB8AC3E}">
        <p14:creationId xmlns:p14="http://schemas.microsoft.com/office/powerpoint/2010/main" val="28974792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6492240" cy="914400"/>
          </a:xfrm>
        </p:spPr>
        <p:txBody>
          <a:bodyPr wrap="square" anchor="ctr">
            <a:no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effectLst>
                  <a:outerShdw blurRad="38100" dist="38100" dir="2700000" algn="tl">
                    <a:srgbClr val="000000">
                      <a:alpha val="30000"/>
                    </a:srgbClr>
                  </a:outerShdw>
                </a:effectLst>
              </a:rPr>
              <a:t>Application Overview</a:t>
            </a:r>
          </a:p>
        </p:txBody>
      </p:sp>
      <p:pic>
        <p:nvPicPr>
          <p:cNvPr id="5" name="Slika 4" descr="Slika na kojoj se prikazuje ukrasni isječci, crtić, lopta, igra na ploči dame&#10;&#10;Sadržaj generiran uz AI možda nije točan.">
            <a:extLst>
              <a:ext uri="{FF2B5EF4-FFF2-40B4-BE49-F238E27FC236}">
                <a16:creationId xmlns:a16="http://schemas.microsoft.com/office/drawing/2014/main" id="{9F1B48D8-8D50-0B0E-8D67-293D0FA1B3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7406640" y="621792"/>
            <a:ext cx="822960" cy="617218"/>
          </a:xfrm>
          <a:prstGeom prst="rect">
            <a:avLst/>
          </a:prstGeom>
        </p:spPr>
      </p:pic>
      <p:sp>
        <p:nvSpPr>
          <p:cNvPr id="6" name="Card 1"/>
          <p:cNvSpPr/>
          <p:nvPr/>
        </p:nvSpPr>
        <p:spPr>
          <a:xfrm>
            <a:off x="914400" y="164592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ard 1 text"/>
          <p:cNvSpPr txBox="1"/>
          <p:nvPr/>
        </p:nvSpPr>
        <p:spPr>
          <a:xfrm>
            <a:off x="1097280" y="1719072"/>
            <a:ext cx="6949440" cy="10881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62626"/>
                </a:solidFill>
              </a:rPr>
              <a:t>The Checkers application is a desktop program that implements the game of checkers.</a:t>
            </a:r>
            <a:r>
              <a:rPr sz="1500" b="0">
                <a:solidFill>
                  <a:srgbClr val="3B3B36"/>
                </a:solidFill>
              </a:rPr>
              <a:t> It is developed using C++ and the NetID GUI framework.</a:t>
            </a:r>
          </a:p>
        </p:txBody>
      </p:sp>
      <p:sp>
        <p:nvSpPr>
          <p:cNvPr id="8" name="Card 2"/>
          <p:cNvSpPr/>
          <p:nvPr/>
        </p:nvSpPr>
        <p:spPr>
          <a:xfrm>
            <a:off x="914400" y="301752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 2 text"/>
          <p:cNvSpPr txBox="1"/>
          <p:nvPr/>
        </p:nvSpPr>
        <p:spPr>
          <a:xfrm>
            <a:off x="1097280" y="3090672"/>
            <a:ext cx="6949440" cy="10881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62626"/>
                </a:solidFill>
              </a:rPr>
              <a:t>The game follows official checkers rules and is played on an 8x8 board.</a:t>
            </a:r>
            <a:r>
              <a:rPr sz="1500" b="0">
                <a:solidFill>
                  <a:srgbClr val="3B3B36"/>
                </a:solidFill>
              </a:rPr>
              <a:t> The application separates the game engine, graphics, and controls.</a:t>
            </a:r>
          </a:p>
        </p:txBody>
      </p:sp>
      <p:sp>
        <p:nvSpPr>
          <p:cNvPr id="10" name="Card 3"/>
          <p:cNvSpPr/>
          <p:nvPr/>
        </p:nvSpPr>
        <p:spPr>
          <a:xfrm>
            <a:off x="914400" y="4389120"/>
            <a:ext cx="7315200" cy="123444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ard 3 text"/>
          <p:cNvSpPr txBox="1"/>
          <p:nvPr/>
        </p:nvSpPr>
        <p:spPr>
          <a:xfrm>
            <a:off x="1097280" y="4462272"/>
            <a:ext cx="6949440" cy="10881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B3B36"/>
                </a:solidFill>
              </a:rPr>
              <a:t>This modular structure makes the program maintainable, scalable, and easier to manage.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6492240" cy="914400"/>
          </a:xfrm>
        </p:spPr>
        <p:txBody>
          <a:bodyPr anchor="ctr" wrap="square">
            <a:noAutofit/>
          </a:bodyPr>
          <a:lstStyle/>
          <a:p>
            <a:pPr algn="l">
              <a:lnSpc>
                <a:spcPct val="90000"/>
              </a:lnSpc>
            </a:pPr>
            <a:r>
              <a:rPr sz="2400" b="1">
                <a:solidFill>
                  <a:srgbClr val="262626"/>
                </a:solidFill>
                <a:effectLst>
                  <a:outerShdw blurRad="38100" dist="38100" dir="2700000" algn="tl">
                    <a:srgbClr val="000000">
                      <a:alpha val="30000"/>
                    </a:srgbClr>
                  </a:outerShdw>
                </a:effectLst>
              </a:rPr>
              <a:t>Movement and Capture Mechanics</a:t>
            </a:r>
            <a:endParaRPr lang="hr-HR" sz="2400" b="1" dirty="0">
              <a:solidFill>
                <a:srgbClr val="FE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Slika 4" descr="Slika na kojoj se prikazuje ukrasni isječci, crtić, lopta, igra na ploči dame&#10;&#10;Sadržaj generiran uz AI možda nije točan.">
            <a:extLst>
              <a:ext uri="{FF2B5EF4-FFF2-40B4-BE49-F238E27FC236}">
                <a16:creationId xmlns:a16="http://schemas.microsoft.com/office/drawing/2014/main" id="{9F1B48D8-8D50-0B0E-8D67-293D0FA1B3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7406640" y="621792"/>
            <a:ext cx="822960" cy="617218"/>
          </a:xfrm>
          <a:prstGeom prst="rect">
            <a:avLst/>
          </a:prstGeom>
        </p:spPr>
      </p:pic>
      <p:sp>
        <p:nvSpPr>
          <p:cNvPr id="6" name="Card 1"/>
          <p:cNvSpPr/>
          <p:nvPr/>
        </p:nvSpPr>
        <p:spPr>
          <a:xfrm>
            <a:off x="914400" y="1645920"/>
            <a:ext cx="4297680" cy="228600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ard 1 text"/>
          <p:cNvSpPr txBox="1"/>
          <p:nvPr/>
        </p:nvSpPr>
        <p:spPr>
          <a:xfrm>
            <a:off x="1097280" y="1719072"/>
            <a:ext cx="3931920" cy="21396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</a:rPr>
              <a:t>Piece movement follows official checkers rules with enforced diagonal motion.</a:t>
            </a:r>
            <a:r>
              <a:rPr sz="1400" b="0">
                <a:solidFill>
                  <a:srgbClr val="3B3B36"/>
                </a:solidFill>
              </a:rPr>
              <a:t> The engine validates all legal moves before execution. Mandatory captures are implemented, and recursive search enables multi‑jump capture sequences.</a:t>
            </a:r>
          </a:p>
        </p:txBody>
      </p:sp>
      <p:sp>
        <p:nvSpPr>
          <p:cNvPr id="8" name="Card 2"/>
          <p:cNvSpPr/>
          <p:nvPr/>
        </p:nvSpPr>
        <p:spPr>
          <a:xfrm>
            <a:off x="914400" y="4069080"/>
            <a:ext cx="4297680" cy="160020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 2 text"/>
          <p:cNvSpPr txBox="1"/>
          <p:nvPr/>
        </p:nvSpPr>
        <p:spPr>
          <a:xfrm>
            <a:off x="1097280" y="4142232"/>
            <a:ext cx="3931920" cy="1453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B3B36"/>
                </a:solidFill>
              </a:rPr>
              <a:t>Captured pieces are removed during animated transitions to synchronize logic and visuals.</a:t>
            </a:r>
          </a:p>
        </p:txBody>
      </p:sp>
      <p:pic>
        <p:nvPicPr>
          <p:cNvPr id="10" name="Picture 9" descr="Selected red piece with two highlighted target squa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645920"/>
            <a:ext cx="2651760" cy="1778000"/>
          </a:xfrm>
          <a:prstGeom prst="rect">
            <a:avLst/>
          </a:prstGeom>
          <a:effectLst>
            <a:outerShdw blurRad="88900" dist="38100" dir="5400000" algn="t" rotWithShape="0">
              <a:srgbClr val="000000">
                <a:alpha val="28000"/>
              </a:srgbClr>
            </a:outerShdw>
          </a:effectLst>
        </p:spPr>
      </p:pic>
      <p:pic>
        <p:nvPicPr>
          <p:cNvPr id="11" name="Picture 10" descr="Selected red piece with a highlighted landing square after a ju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3749039"/>
            <a:ext cx="2651760" cy="1943100"/>
          </a:xfrm>
          <a:prstGeom prst="rect">
            <a:avLst/>
          </a:prstGeom>
          <a:effectLst>
            <a:outerShdw blurRad="88900" dist="38100" dir="5400000" algn="t" rotWithShape="0">
              <a:srgbClr val="000000">
                <a:alpha val="28000"/>
              </a:srgbClr>
            </a:outerShdw>
          </a:effec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1955CDF-135A-3993-9D98-AF76013E4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457200"/>
            <a:ext cx="6492240" cy="914400"/>
          </a:xfrm>
        </p:spPr>
        <p:txBody>
          <a:bodyPr wrap="square" anchor="ctr">
            <a:no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effectLst>
                  <a:outerShdw blurRad="38100" dist="38100" dir="2700000" algn="tl">
                    <a:srgbClr val="000000">
                      <a:alpha val="30000"/>
                    </a:srgbClr>
                  </a:outerShdw>
                </a:effectLst>
              </a:rPr>
              <a:t>Artificial Intelligence System</a:t>
            </a:r>
          </a:p>
        </p:txBody>
      </p:sp>
      <p:pic>
        <p:nvPicPr>
          <p:cNvPr id="5" name="Slika 4" descr="Slika na kojoj se prikazuje ukrasni isječci, crtić, lopta, igra na ploči dame&#10;&#10;Sadržaj generiran uz AI možda nije točan.">
            <a:extLst>
              <a:ext uri="{FF2B5EF4-FFF2-40B4-BE49-F238E27FC236}">
                <a16:creationId xmlns:a16="http://schemas.microsoft.com/office/drawing/2014/main" id="{9F1B48D8-8D50-0B0E-8D67-293D0FA1B3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7406640" y="621792"/>
            <a:ext cx="822960" cy="617218"/>
          </a:xfrm>
          <a:prstGeom prst="rect">
            <a:avLst/>
          </a:prstGeom>
        </p:spPr>
      </p:pic>
      <p:sp>
        <p:nvSpPr>
          <p:cNvPr id="6" name="Card 1"/>
          <p:cNvSpPr/>
          <p:nvPr/>
        </p:nvSpPr>
        <p:spPr>
          <a:xfrm>
            <a:off x="914400" y="1645920"/>
            <a:ext cx="7315200" cy="118872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ard 1 text"/>
          <p:cNvSpPr txBox="1"/>
          <p:nvPr/>
        </p:nvSpPr>
        <p:spPr>
          <a:xfrm>
            <a:off x="1097280" y="1719072"/>
            <a:ext cx="6949440" cy="10424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</a:rPr>
              <a:t>The AI opponent uses the Minimax algorithm with Alpha-Beta pruning to decide its moves.</a:t>
            </a:r>
            <a:r>
              <a:rPr sz="1400" b="0">
                <a:solidFill>
                  <a:srgbClr val="3B3B36"/>
                </a:solidFill>
              </a:rPr>
              <a:t> It simulates possible future moves and evaluates board states to choose the most optimal action.</a:t>
            </a:r>
          </a:p>
        </p:txBody>
      </p:sp>
      <p:sp>
        <p:nvSpPr>
          <p:cNvPr id="8" name="Card 2"/>
          <p:cNvSpPr/>
          <p:nvPr/>
        </p:nvSpPr>
        <p:spPr>
          <a:xfrm>
            <a:off x="914400" y="2971800"/>
            <a:ext cx="7315200" cy="169164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 2 text"/>
          <p:cNvSpPr txBox="1"/>
          <p:nvPr/>
        </p:nvSpPr>
        <p:spPr>
          <a:xfrm>
            <a:off x="1097280" y="3044952"/>
            <a:ext cx="6949440" cy="1545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</a:rPr>
              <a:t>The algorithm assumes the opponent also plays optimally, so it maximizes its own advantage while minimizing the opponent’s gain.</a:t>
            </a:r>
            <a:r>
              <a:rPr sz="1400" b="0">
                <a:solidFill>
                  <a:srgbClr val="3B3B36"/>
                </a:solidFill>
              </a:rPr>
              <a:t> Board positions are evaluated using a heuristic function. The heuristic considers factors such as the number of pieces, the higher value of king pieces, piece mobility, and positional advantages.</a:t>
            </a:r>
          </a:p>
        </p:txBody>
      </p:sp>
      <p:sp>
        <p:nvSpPr>
          <p:cNvPr id="10" name="Card 3"/>
          <p:cNvSpPr/>
          <p:nvPr/>
        </p:nvSpPr>
        <p:spPr>
          <a:xfrm>
            <a:off x="914400" y="4800600"/>
            <a:ext cx="7315200" cy="118872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ard 3 text"/>
          <p:cNvSpPr txBox="1"/>
          <p:nvPr/>
        </p:nvSpPr>
        <p:spPr>
          <a:xfrm>
            <a:off x="1097280" y="4873752"/>
            <a:ext cx="6949440" cy="10424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</a:rPr>
              <a:t>Alpha-Beta pruning increases efficiency by cutting off branches that do not affect the final decision.</a:t>
            </a:r>
            <a:r>
              <a:rPr sz="1400" b="0">
                <a:solidFill>
                  <a:srgbClr val="3B3B36"/>
                </a:solidFill>
              </a:rPr>
              <a:t> This reduces unnecessary computations while maintaining strong decision quality.</a:t>
            </a:r>
          </a:p>
        </p:txBody>
      </p:sp>
    </p:spTree>
    <p:extLst>
      <p:ext uri="{BB962C8B-B14F-4D97-AF65-F5344CB8AC3E}">
        <p14:creationId xmlns:p14="http://schemas.microsoft.com/office/powerpoint/2010/main" val="3077226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6492240" cy="914400"/>
          </a:xfrm>
        </p:spPr>
        <p:txBody>
          <a:bodyPr wrap="square" anchor="ctr">
            <a:no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effectLst>
                  <a:outerShdw blurRad="38100" dist="38100" dir="2700000" algn="tl">
                    <a:srgbClr val="000000">
                      <a:alpha val="30000"/>
                    </a:srgbClr>
                  </a:outerShdw>
                </a:effectLst>
              </a:rPr>
              <a:t>Game Board and Rendering</a:t>
            </a:r>
            <a:endParaRPr lang="hr-HR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Slika 4" descr="Slika na kojoj se prikazuje ukrasni isječci, crtić, lopta, igra na ploči dame&#10;&#10;Sadržaj generiran uz AI možda nije točan.">
            <a:extLst>
              <a:ext uri="{FF2B5EF4-FFF2-40B4-BE49-F238E27FC236}">
                <a16:creationId xmlns:a16="http://schemas.microsoft.com/office/drawing/2014/main" id="{9F1B48D8-8D50-0B0E-8D67-293D0FA1B3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7406640" y="621792"/>
            <a:ext cx="822960" cy="617218"/>
          </a:xfrm>
          <a:prstGeom prst="rect">
            <a:avLst/>
          </a:prstGeom>
        </p:spPr>
      </p:pic>
      <p:sp>
        <p:nvSpPr>
          <p:cNvPr id="6" name="Card 1"/>
          <p:cNvSpPr/>
          <p:nvPr/>
        </p:nvSpPr>
        <p:spPr>
          <a:xfrm>
            <a:off x="914400" y="1645920"/>
            <a:ext cx="4206240" cy="182880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ard 1 text"/>
          <p:cNvSpPr txBox="1"/>
          <p:nvPr/>
        </p:nvSpPr>
        <p:spPr>
          <a:xfrm>
            <a:off x="1097280" y="1719072"/>
            <a:ext cx="3840479" cy="1682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</a:rPr>
              <a:t>The board is rendered dynamically using the GUI Canvas system.</a:t>
            </a:r>
            <a:r>
              <a:rPr sz="1400" b="0">
                <a:solidFill>
                  <a:srgbClr val="3B3B36"/>
                </a:solidFill>
              </a:rPr>
              <a:t> It automatically scales with window resizing while maintaining correct proportions.</a:t>
            </a:r>
          </a:p>
        </p:txBody>
      </p:sp>
      <p:sp>
        <p:nvSpPr>
          <p:cNvPr id="8" name="Card 2"/>
          <p:cNvSpPr/>
          <p:nvPr/>
        </p:nvSpPr>
        <p:spPr>
          <a:xfrm>
            <a:off x="914400" y="3611880"/>
            <a:ext cx="4206240" cy="219456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 2 text"/>
          <p:cNvSpPr txBox="1"/>
          <p:nvPr/>
        </p:nvSpPr>
        <p:spPr>
          <a:xfrm>
            <a:off x="1097280" y="3685032"/>
            <a:ext cx="3840479" cy="20482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</a:rPr>
              <a:t>Sprites are used for pieces, highlights, and overlays, allowing visual feedback for selected pieces and legal moves.</a:t>
            </a:r>
            <a:r>
              <a:rPr sz="1400" b="0">
                <a:solidFill>
                  <a:srgbClr val="3B3B36"/>
                </a:solidFill>
              </a:rPr>
              <a:t> The rendering loop continuously updates animations and board states.</a:t>
            </a:r>
          </a:p>
        </p:txBody>
      </p:sp>
      <p:pic>
        <p:nvPicPr>
          <p:cNvPr id="10" name="Picture 9" descr="Checkers board with pie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2926080" cy="2921882"/>
          </a:xfrm>
          <a:prstGeom prst="rect">
            <a:avLst/>
          </a:prstGeom>
          <a:effectLst>
            <a:outerShdw blurRad="88900" dist="38100" dir="5400000" algn="t" rotWithShape="0">
              <a:srgbClr val="000000">
                <a:alpha val="2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6492240" cy="914400"/>
          </a:xfrm>
        </p:spPr>
        <p:txBody>
          <a:bodyPr wrap="square" anchor="ctr">
            <a:no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effectLst>
                  <a:outerShdw blurRad="38100" dist="38100" dir="2700000" algn="tl">
                    <a:srgbClr val="000000">
                      <a:alpha val="30000"/>
                    </a:srgbClr>
                  </a:outerShdw>
                </a:effectLst>
              </a:rPr>
              <a:t>Game End Detection and Dialogs</a:t>
            </a:r>
          </a:p>
        </p:txBody>
      </p:sp>
      <p:pic>
        <p:nvPicPr>
          <p:cNvPr id="5" name="Slika 4" descr="Slika na kojoj se prikazuje ukrasni isječci, crtić, lopta, igra na ploči dame&#10;&#10;Sadržaj generiran uz AI možda nije točan.">
            <a:extLst>
              <a:ext uri="{FF2B5EF4-FFF2-40B4-BE49-F238E27FC236}">
                <a16:creationId xmlns:a16="http://schemas.microsoft.com/office/drawing/2014/main" id="{9F1B48D8-8D50-0B0E-8D67-293D0FA1B3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7406640" y="621792"/>
            <a:ext cx="822960" cy="617218"/>
          </a:xfrm>
          <a:prstGeom prst="rect">
            <a:avLst/>
          </a:prstGeom>
        </p:spPr>
      </p:pic>
      <p:sp>
        <p:nvSpPr>
          <p:cNvPr id="6" name="Card 1"/>
          <p:cNvSpPr/>
          <p:nvPr/>
        </p:nvSpPr>
        <p:spPr>
          <a:xfrm>
            <a:off x="914400" y="1645920"/>
            <a:ext cx="2331720" cy="214884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ard 1 text"/>
          <p:cNvSpPr txBox="1"/>
          <p:nvPr/>
        </p:nvSpPr>
        <p:spPr>
          <a:xfrm>
            <a:off x="1097280" y="1719072"/>
            <a:ext cx="1965960" cy="2002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62626"/>
                </a:solidFill>
              </a:rPr>
              <a:t>The engine continuously monitors the game state in real time.</a:t>
            </a:r>
            <a:r>
              <a:rPr sz="1250" b="0">
                <a:solidFill>
                  <a:srgbClr val="3B3B36"/>
                </a:solidFill>
              </a:rPr>
              <a:t> It detects win, loss, and draw conditions automatically.</a:t>
            </a:r>
          </a:p>
        </p:txBody>
      </p:sp>
      <p:sp>
        <p:nvSpPr>
          <p:cNvPr id="8" name="Card 2"/>
          <p:cNvSpPr/>
          <p:nvPr/>
        </p:nvSpPr>
        <p:spPr>
          <a:xfrm>
            <a:off x="3406139" y="1645920"/>
            <a:ext cx="2331720" cy="214884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 2 text"/>
          <p:cNvSpPr txBox="1"/>
          <p:nvPr/>
        </p:nvSpPr>
        <p:spPr>
          <a:xfrm>
            <a:off x="3589020" y="1719072"/>
            <a:ext cx="1965960" cy="2002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62626"/>
                </a:solidFill>
              </a:rPr>
              <a:t>A player loses when they have no legal moves remaining.</a:t>
            </a:r>
            <a:r>
              <a:rPr sz="1250" b="0">
                <a:solidFill>
                  <a:srgbClr val="3B3B36"/>
                </a:solidFill>
              </a:rPr>
              <a:t> Draws are determined using the no-capture move limit rule to prevent endless play.</a:t>
            </a:r>
          </a:p>
        </p:txBody>
      </p:sp>
      <p:sp>
        <p:nvSpPr>
          <p:cNvPr id="10" name="Card 3"/>
          <p:cNvSpPr/>
          <p:nvPr/>
        </p:nvSpPr>
        <p:spPr>
          <a:xfrm>
            <a:off x="5897879" y="1645920"/>
            <a:ext cx="2331720" cy="214884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ard 3 text"/>
          <p:cNvSpPr txBox="1"/>
          <p:nvPr/>
        </p:nvSpPr>
        <p:spPr>
          <a:xfrm>
            <a:off x="6080759" y="1719072"/>
            <a:ext cx="1965960" cy="2002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62626"/>
                </a:solidFill>
              </a:rPr>
              <a:t>When the game ends, a dialog window displays the result.</a:t>
            </a:r>
            <a:r>
              <a:rPr sz="1250" b="0">
                <a:solidFill>
                  <a:srgbClr val="3B3B36"/>
                </a:solidFill>
              </a:rPr>
              <a:t> The dialog also offers options to restart the game or close the session.</a:t>
            </a:r>
          </a:p>
        </p:txBody>
      </p:sp>
      <p:pic>
        <p:nvPicPr>
          <p:cNvPr id="12" name="Picture 11" descr="Game-over dialog with Play again and Close butt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4114800"/>
            <a:ext cx="5120640" cy="1441489"/>
          </a:xfrm>
          <a:prstGeom prst="rect">
            <a:avLst/>
          </a:prstGeom>
          <a:effectLst>
            <a:outerShdw blurRad="88900" dist="38100" dir="5400000" algn="t" rotWithShape="0">
              <a:srgbClr val="000000">
                <a:alpha val="28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6492240" cy="914400"/>
          </a:xfrm>
        </p:spPr>
        <p:txBody>
          <a:bodyPr wrap="square" anchor="ctr">
            <a:no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effectLst>
                  <a:outerShdw blurRad="38100" dist="38100" dir="2700000" algn="tl">
                    <a:srgbClr val="000000">
                      <a:alpha val="30000"/>
                    </a:srgbClr>
                  </a:outerShdw>
                </a:effectLst>
              </a:rPr>
              <a:t>User Interface and Settings</a:t>
            </a:r>
          </a:p>
        </p:txBody>
      </p:sp>
      <p:pic>
        <p:nvPicPr>
          <p:cNvPr id="5" name="Slika 4" descr="Slika na kojoj se prikazuje ukrasni isječci, crtić, lopta, igra na ploči dame&#10;&#10;Sadržaj generiran uz AI možda nije točan.">
            <a:extLst>
              <a:ext uri="{FF2B5EF4-FFF2-40B4-BE49-F238E27FC236}">
                <a16:creationId xmlns:a16="http://schemas.microsoft.com/office/drawing/2014/main" id="{9F1B48D8-8D50-0B0E-8D67-293D0FA1B3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7406640" y="621792"/>
            <a:ext cx="822960" cy="617218"/>
          </a:xfrm>
          <a:prstGeom prst="rect">
            <a:avLst/>
          </a:prstGeom>
        </p:spPr>
      </p:pic>
      <p:sp>
        <p:nvSpPr>
          <p:cNvPr id="6" name="Card 1"/>
          <p:cNvSpPr/>
          <p:nvPr/>
        </p:nvSpPr>
        <p:spPr>
          <a:xfrm>
            <a:off x="914400" y="1645920"/>
            <a:ext cx="4206240" cy="201168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ard 1 text"/>
          <p:cNvSpPr txBox="1"/>
          <p:nvPr/>
        </p:nvSpPr>
        <p:spPr>
          <a:xfrm>
            <a:off x="1097280" y="1719072"/>
            <a:ext cx="3840479" cy="1865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</a:rPr>
              <a:t>The interface includes a menu bar, toolbar, and settings dialog.</a:t>
            </a:r>
            <a:r>
              <a:rPr sz="1400" b="0">
                <a:solidFill>
                  <a:srgbClr val="3B3B36"/>
                </a:solidFill>
              </a:rPr>
              <a:t> Players can start or reset matches, adjust toolbar display, and change language settings.</a:t>
            </a:r>
          </a:p>
        </p:txBody>
      </p:sp>
      <p:sp>
        <p:nvSpPr>
          <p:cNvPr id="8" name="Card 2"/>
          <p:cNvSpPr/>
          <p:nvPr/>
        </p:nvSpPr>
        <p:spPr>
          <a:xfrm>
            <a:off x="914400" y="3794760"/>
            <a:ext cx="4206240" cy="1920240"/>
          </a:xfrm>
          <a:prstGeom prst="roundRect">
            <a:avLst>
              <a:gd name="adj" fmla="val 8000"/>
            </a:avLst>
          </a:prstGeom>
          <a:solidFill>
            <a:srgbClr val="F5F6F2"/>
          </a:solidFill>
          <a:ln w="9525">
            <a:solidFill>
              <a:srgbClr val="E4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 2 text"/>
          <p:cNvSpPr txBox="1"/>
          <p:nvPr/>
        </p:nvSpPr>
        <p:spPr>
          <a:xfrm>
            <a:off x="1097280" y="3867912"/>
            <a:ext cx="3840479" cy="1773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B3B36"/>
                </a:solidFill>
              </a:rPr>
              <a:t>Localization is handled through XML translation resources, and restart prompts ensure language changes apply correctly across the application.</a:t>
            </a:r>
          </a:p>
        </p:txBody>
      </p:sp>
      <p:pic>
        <p:nvPicPr>
          <p:cNvPr id="10" name="Picture 9" descr="Settings dialog with language selection and toolbar label check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91640"/>
            <a:ext cx="2926080" cy="2204228"/>
          </a:xfrm>
          <a:prstGeom prst="rect">
            <a:avLst/>
          </a:prstGeom>
          <a:effectLst>
            <a:outerShdw blurRad="88900" dist="38100" dir="5400000" algn="t" rotWithShape="0">
              <a:srgbClr val="000000">
                <a:alpha val="28000"/>
              </a:srgbClr>
            </a:outerShdw>
          </a:effectLst>
        </p:spPr>
      </p:pic>
      <p:pic>
        <p:nvPicPr>
          <p:cNvPr id="11" name="Picture 10" descr="Toolbar with Settings, Reset and Start butt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4343400"/>
            <a:ext cx="2926080" cy="819302"/>
          </a:xfrm>
          <a:prstGeom prst="rect">
            <a:avLst/>
          </a:prstGeom>
          <a:effectLst>
            <a:outerShdw blurRad="88900" dist="38100" dir="5400000" algn="t" rotWithShape="0">
              <a:srgbClr val="000000">
                <a:alpha val="2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37B59-B4E8-1F52-5A06-9123E30B3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7BBDDA9-0C25-C93F-959C-8FBF558B0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5120640"/>
            <a:ext cx="7315200" cy="1005840"/>
          </a:xfrm>
        </p:spPr>
        <p:txBody>
          <a:bodyPr vert="horz" lIns="91440" tIns="45720" rIns="91440" bIns="45720" rtlCol="0" anchor="ctr" wrap="square">
            <a:noAutofit/>
          </a:bodyPr>
          <a:lstStyle/>
          <a:p>
            <a:pPr algn="ctr"/>
            <a:r>
              <a:rPr sz="4800" b="1">
                <a:solidFill>
                  <a:srgbClr val="262626"/>
                </a:solidFill>
                <a:effectLst>
                  <a:outerShdw blurRad="38100" dist="38100" dir="2700000" algn="tl">
                    <a:srgbClr val="000000">
                      <a:alpha val="30000"/>
                    </a:srgbClr>
                  </a:outerShdw>
                </a:effectLst>
              </a:rPr>
              <a:t>THE END</a:t>
            </a:r>
          </a:p>
        </p:txBody>
      </p:sp>
      <p:pic>
        <p:nvPicPr>
          <p:cNvPr id="22" name="Slika 21" descr="Celebration artwork: the player and the robot with a trophy under a You Win banner">
            <a:extLst>
              <a:ext uri="{FF2B5EF4-FFF2-40B4-BE49-F238E27FC236}">
                <a16:creationId xmlns:a16="http://schemas.microsoft.com/office/drawing/2014/main" id="{FCDAF667-CD56-1D43-35F8-2A6DF49A2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274320"/>
            <a:ext cx="3566160" cy="535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4887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102</TotalTime>
  <Words>429</Words>
  <Application>Microsoft Office PowerPoint</Application>
  <PresentationFormat>Prikaz na zaslonu (4:3)</PresentationFormat>
  <Paragraphs>24</Paragraphs>
  <Slides>8</Slides>
  <Notes>0</Notes>
  <HiddenSlides>0</HiddenSlides>
  <MMClips>0</MMClips>
  <ScaleCrop>false</ScaleCrop>
  <HeadingPairs>
    <vt:vector size="6" baseType="variant">
      <vt:variant>
        <vt:lpstr>Korišteni fontovi</vt:lpstr>
      </vt:variant>
      <vt:variant>
        <vt:i4>4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8</vt:i4>
      </vt:variant>
    </vt:vector>
  </HeadingPairs>
  <TitlesOfParts>
    <vt:vector size="13" baseType="lpstr">
      <vt:lpstr>Arial</vt:lpstr>
      <vt:lpstr>Century Gothic</vt:lpstr>
      <vt:lpstr>Times New Roman</vt:lpstr>
      <vt:lpstr>Wingdings 3</vt:lpstr>
      <vt:lpstr>Wisp</vt:lpstr>
      <vt:lpstr>CHECKERS</vt:lpstr>
      <vt:lpstr>Application Overview</vt:lpstr>
      <vt:lpstr>Movement and Capture Mechanics</vt:lpstr>
      <vt:lpstr>Artificial Intelligence System</vt:lpstr>
      <vt:lpstr>Game Board and Rendering</vt:lpstr>
      <vt:lpstr>Game End Detection and Dialogs</vt:lpstr>
      <vt:lpstr>User Interface and Settings</vt:lpstr>
      <vt:lpstr>THE END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Application Overview</dc:title>
  <dc:subject/>
  <dc:creator>Elvir</dc:creator>
  <cp:keywords/>
  <dc:description>generated using python-pptx</dc:description>
  <cp:lastModifiedBy>admin admin</cp:lastModifiedBy>
  <cp:revision>6</cp:revision>
  <dcterms:created xsi:type="dcterms:W3CDTF">2013-01-27T09:14:16Z</dcterms:created>
  <dcterms:modified xsi:type="dcterms:W3CDTF">2026-02-28T15:30:54Z</dcterms:modified>
  <cp:category/>
</cp:coreProperties>
</file>